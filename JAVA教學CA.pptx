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47" autoAdjust="0"/>
  </p:normalViewPr>
  <p:slideViewPr>
    <p:cSldViewPr snapToGrid="0">
      <p:cViewPr varScale="1">
        <p:scale>
          <a:sx n="60" d="100"/>
          <a:sy n="60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FE7D0-A882-438B-B6B4-7A0420E8B128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D5830-6D5E-4D17-8806-4A9B0DCB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936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  <a:t>客人點餐，就像前端打 </a:t>
            </a:r>
            <a:r>
              <a:rPr lang="en-US" altLang="zh-TW" b="0" i="0" dirty="0">
                <a:solidFill>
                  <a:srgbClr val="FFFFFF"/>
                </a:solidFill>
                <a:effectLst/>
                <a:latin typeface="-apple-system-body"/>
              </a:rPr>
              <a:t>API</a:t>
            </a:r>
            <a: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  <a:t>。</a:t>
            </a:r>
          </a:p>
          <a:p>
            <a:pPr algn="l"/>
            <a: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  <a:t>服務生不會自己煮菜，他只會把需求送到廚房。</a:t>
            </a:r>
            <a:b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</a:br>
            <a: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  <a:t>主廚不會自己去倉庫搬食材，他會請倉庫管理員拿資料。</a:t>
            </a:r>
            <a:b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</a:br>
            <a: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  <a:t>倉庫管理員也不管這些食材最後要做什麼，他只負責拿資料。</a:t>
            </a:r>
          </a:p>
          <a:p>
            <a:pPr algn="l"/>
            <a:r>
              <a:rPr lang="zh-TW" altLang="en-US" b="0" i="0" dirty="0">
                <a:solidFill>
                  <a:srgbClr val="FFFFFF"/>
                </a:solidFill>
                <a:effectLst/>
                <a:latin typeface="-apple-system-body"/>
              </a:rPr>
              <a:t>對應到後端就是：</a:t>
            </a:r>
          </a:p>
          <a:p>
            <a:pPr rtl="0"/>
            <a:r>
              <a:rPr lang="zh-TW" altLang="en-US" dirty="0">
                <a:solidFill>
                  <a:srgbClr val="F9F9F9"/>
                </a:solidFill>
                <a:effectLst/>
              </a:rPr>
              <a:t>前端 </a:t>
            </a:r>
            <a:r>
              <a:rPr lang="en-US" altLang="zh-TW" dirty="0">
                <a:solidFill>
                  <a:srgbClr val="F9F9F9"/>
                </a:solidFill>
                <a:effectLst/>
              </a:rPr>
              <a:t>request</a:t>
            </a:r>
            <a:br>
              <a:rPr lang="en-US" altLang="zh-TW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↓</a:t>
            </a:r>
            <a:br>
              <a:rPr lang="en-US" altLang="zh-TW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Controller </a:t>
            </a:r>
            <a:r>
              <a:rPr lang="zh-TW" altLang="en-US" dirty="0">
                <a:solidFill>
                  <a:srgbClr val="F9F9F9"/>
                </a:solidFill>
                <a:effectLst/>
              </a:rPr>
              <a:t>接住 </a:t>
            </a:r>
            <a:r>
              <a:rPr lang="en-US" altLang="zh-TW" dirty="0">
                <a:solidFill>
                  <a:srgbClr val="F9F9F9"/>
                </a:solidFill>
                <a:effectLst/>
              </a:rPr>
              <a:t>API</a:t>
            </a:r>
            <a:br>
              <a:rPr lang="en-US" altLang="zh-TW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↓</a:t>
            </a:r>
            <a:br>
              <a:rPr lang="en-US" altLang="zh-TW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Service </a:t>
            </a:r>
            <a:r>
              <a:rPr lang="zh-TW" altLang="en-US" dirty="0">
                <a:solidFill>
                  <a:srgbClr val="F9F9F9"/>
                </a:solidFill>
                <a:effectLst/>
              </a:rPr>
              <a:t>處理商業邏輯</a:t>
            </a:r>
            <a:br>
              <a:rPr lang="zh-TW" altLang="en-US" dirty="0">
                <a:solidFill>
                  <a:srgbClr val="F9F9F9"/>
                </a:solidFill>
                <a:effectLst/>
              </a:rPr>
            </a:br>
            <a:r>
              <a:rPr lang="zh-TW" altLang="en-US" dirty="0">
                <a:solidFill>
                  <a:srgbClr val="F9F9F9"/>
                </a:solidFill>
                <a:effectLst/>
              </a:rPr>
              <a:t>↓</a:t>
            </a:r>
            <a:br>
              <a:rPr lang="zh-TW" altLang="en-US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Repository </a:t>
            </a:r>
            <a:r>
              <a:rPr lang="zh-TW" altLang="en-US" dirty="0">
                <a:solidFill>
                  <a:srgbClr val="F9F9F9"/>
                </a:solidFill>
                <a:effectLst/>
              </a:rPr>
              <a:t>取得資料</a:t>
            </a:r>
            <a:br>
              <a:rPr lang="zh-TW" altLang="en-US" dirty="0">
                <a:solidFill>
                  <a:srgbClr val="F9F9F9"/>
                </a:solidFill>
                <a:effectLst/>
              </a:rPr>
            </a:br>
            <a:r>
              <a:rPr lang="zh-TW" altLang="en-US" dirty="0">
                <a:solidFill>
                  <a:srgbClr val="F9F9F9"/>
                </a:solidFill>
                <a:effectLst/>
              </a:rPr>
              <a:t>↓</a:t>
            </a:r>
            <a:br>
              <a:rPr lang="zh-TW" altLang="en-US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Service </a:t>
            </a:r>
            <a:r>
              <a:rPr lang="zh-TW" altLang="en-US" dirty="0">
                <a:solidFill>
                  <a:srgbClr val="F9F9F9"/>
                </a:solidFill>
                <a:effectLst/>
              </a:rPr>
              <a:t>組結果</a:t>
            </a:r>
            <a:br>
              <a:rPr lang="zh-TW" altLang="en-US" dirty="0">
                <a:solidFill>
                  <a:srgbClr val="F9F9F9"/>
                </a:solidFill>
                <a:effectLst/>
              </a:rPr>
            </a:br>
            <a:r>
              <a:rPr lang="zh-TW" altLang="en-US" dirty="0">
                <a:solidFill>
                  <a:srgbClr val="F9F9F9"/>
                </a:solidFill>
                <a:effectLst/>
              </a:rPr>
              <a:t>↓</a:t>
            </a:r>
            <a:br>
              <a:rPr lang="zh-TW" altLang="en-US" dirty="0">
                <a:solidFill>
                  <a:srgbClr val="F9F9F9"/>
                </a:solidFill>
                <a:effectLst/>
              </a:rPr>
            </a:br>
            <a:r>
              <a:rPr lang="en-US" altLang="zh-TW" dirty="0">
                <a:solidFill>
                  <a:srgbClr val="F9F9F9"/>
                </a:solidFill>
                <a:effectLst/>
              </a:rPr>
              <a:t>Controller </a:t>
            </a:r>
            <a:r>
              <a:rPr lang="zh-TW" altLang="en-US" dirty="0">
                <a:solidFill>
                  <a:srgbClr val="F9F9F9"/>
                </a:solidFill>
                <a:effectLst/>
              </a:rPr>
              <a:t>回傳 </a:t>
            </a:r>
            <a:r>
              <a:rPr lang="en-US" altLang="zh-TW" dirty="0">
                <a:solidFill>
                  <a:srgbClr val="F9F9F9"/>
                </a:solidFill>
                <a:effectLst/>
              </a:rPr>
              <a:t>response</a:t>
            </a:r>
          </a:p>
          <a:p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D5830-6D5E-4D17-8806-4A9B0DCBCEC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887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D5830-6D5E-4D17-8806-4A9B0DCBCEC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568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9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81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8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23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52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35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6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4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2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99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F94FE9-0C79-4FD9-83FE-A583D22E3F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90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6BCF52-7B48-9E17-1DA4-723CF6751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2072755"/>
            <a:ext cx="10058400" cy="1939410"/>
          </a:xfrm>
        </p:spPr>
        <p:txBody>
          <a:bodyPr>
            <a:normAutofit/>
          </a:bodyPr>
          <a:lstStyle/>
          <a:p>
            <a:pPr algn="ctr"/>
            <a: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</a:t>
            </a:r>
            <a:r>
              <a:rPr lang="zh-TW" altLang="en-US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三層架構 </a:t>
            </a:r>
            <a:b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(3-Layer Architecture)</a:t>
            </a:r>
            <a:endParaRPr lang="zh-TW" altLang="en-US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C19F36-AC20-5732-5E9E-D979BEC33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讓你的程式碼變的優雅且易於維護</a:t>
            </a:r>
            <a:endParaRPr lang="en-US" altLang="zh-TW" b="1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b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講師：陳禹翔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641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7135AE-6F7A-854A-0081-5F3753BA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為什麼要學「架構」？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3CF8BF-7670-EC52-668B-CDF4FF31B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痛點：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如果把所有的程式碼（接收請求、檢查資料、存資料庫）全寫在一起會怎樣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程式碼變得很長，像「義大利麵」一樣捲在一起。</a:t>
            </a:r>
          </a:p>
          <a:p>
            <a:pPr marL="800100" lvl="1" indent="-342900">
              <a:buFont typeface="+mj-ea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很難修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Bug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（牽一髮而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全身）。</a:t>
            </a:r>
          </a:p>
          <a:p>
            <a:pPr marL="800100" lvl="1" indent="-342900">
              <a:buFont typeface="+mj-ea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無法重複使用功能。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解決方案：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三層架構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(Decoupling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耦合解法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核心目標：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各司其職、分工合作。</a:t>
            </a:r>
          </a:p>
          <a:p>
            <a:pPr marL="457200" indent="-457200">
              <a:buFont typeface="+mj-lt"/>
              <a:buAutoNum type="arabicPeriod"/>
            </a:pP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807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36332-6E4B-FA21-37AB-53FD3127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Inter"/>
              </a:rPr>
              <a:t>生活化比喻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——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Inter"/>
              </a:rPr>
              <a:t>餐廳經營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EEF221-C4A0-8350-B2C6-E4038D97F1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53" y="3525276"/>
            <a:ext cx="1866129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f - Free food icons">
            <a:extLst>
              <a:ext uri="{FF2B5EF4-FFF2-40B4-BE49-F238E27FC236}">
                <a16:creationId xmlns:a16="http://schemas.microsoft.com/office/drawing/2014/main" id="{D49DB06F-679C-BAB6-7055-3EE9E4F3F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207" y="3525276"/>
            <a:ext cx="1890546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zer - Free technology icons">
            <a:extLst>
              <a:ext uri="{FF2B5EF4-FFF2-40B4-BE49-F238E27FC236}">
                <a16:creationId xmlns:a16="http://schemas.microsoft.com/office/drawing/2014/main" id="{9F83CED3-54E9-F5FC-E434-4DF909010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878" y="3525276"/>
            <a:ext cx="1890546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24FEA9A-DD91-651F-926F-4E644AEA31A7}"/>
              </a:ext>
            </a:extLst>
          </p:cNvPr>
          <p:cNvSpPr txBox="1"/>
          <p:nvPr/>
        </p:nvSpPr>
        <p:spPr>
          <a:xfrm>
            <a:off x="924953" y="2135421"/>
            <a:ext cx="2144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0" dirty="0">
                <a:effectLst/>
                <a:latin typeface="Inter"/>
              </a:rPr>
              <a:t>Controller</a:t>
            </a:r>
            <a:r>
              <a:rPr lang="en-US" altLang="zh-TW" b="1" i="0" dirty="0">
                <a:effectLst/>
                <a:latin typeface="Inter"/>
              </a:rPr>
              <a:t> (</a:t>
            </a:r>
            <a:r>
              <a:rPr lang="zh-TW" altLang="en-US" b="1" i="0" dirty="0">
                <a:effectLst/>
                <a:latin typeface="Inter"/>
              </a:rPr>
              <a:t>服務生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BF4B2C-E99F-A1D9-0BF2-E90E37F4E111}"/>
              </a:ext>
            </a:extLst>
          </p:cNvPr>
          <p:cNvSpPr txBox="1"/>
          <p:nvPr/>
        </p:nvSpPr>
        <p:spPr>
          <a:xfrm>
            <a:off x="5298489" y="2206911"/>
            <a:ext cx="1507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Inter"/>
              </a:rPr>
              <a:t>Service (</a:t>
            </a:r>
            <a:r>
              <a:rPr lang="zh-TW" altLang="en-US" b="1" i="0" dirty="0">
                <a:effectLst/>
                <a:latin typeface="Inter"/>
              </a:rPr>
              <a:t>主廚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14EC84E-D2B2-CF19-01E9-9E332C714B5B}"/>
              </a:ext>
            </a:extLst>
          </p:cNvPr>
          <p:cNvSpPr txBox="1"/>
          <p:nvPr/>
        </p:nvSpPr>
        <p:spPr>
          <a:xfrm>
            <a:off x="9035551" y="2171708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i="0" dirty="0">
                <a:effectLst/>
                <a:latin typeface="Inter"/>
              </a:rPr>
              <a:t>Repository</a:t>
            </a:r>
            <a:r>
              <a:rPr lang="en-US" altLang="zh-TW" b="1" i="0" dirty="0">
                <a:effectLst/>
                <a:latin typeface="Inter"/>
              </a:rPr>
              <a:t> (</a:t>
            </a:r>
            <a:r>
              <a:rPr lang="zh-TW" altLang="en-US" b="1" i="0" dirty="0">
                <a:effectLst/>
                <a:latin typeface="Inter"/>
              </a:rPr>
              <a:t>倉庫管理員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0EE6D7-D67A-50A5-CC52-3E408347A307}"/>
              </a:ext>
            </a:extLst>
          </p:cNvPr>
          <p:cNvSpPr txBox="1"/>
          <p:nvPr/>
        </p:nvSpPr>
        <p:spPr>
          <a:xfrm>
            <a:off x="924953" y="2597128"/>
            <a:ext cx="25723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只負責「面對客人」。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接菜單、送菜。他</a:t>
            </a:r>
            <a:r>
              <a:rPr lang="zh-TW" altLang="en-US" sz="1400" b="1" i="0" dirty="0">
                <a:effectLst/>
                <a:latin typeface="Inter"/>
              </a:rPr>
              <a:t>不進廚房</a:t>
            </a:r>
            <a:r>
              <a:rPr lang="zh-TW" altLang="en-US" sz="1400" b="0" i="0" dirty="0">
                <a:effectLst/>
                <a:latin typeface="Inter"/>
              </a:rPr>
              <a:t>，他只負責把需求傳進去。</a:t>
            </a:r>
            <a:endParaRPr lang="zh-TW" altLang="en-US" sz="1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DAE6D9D-90B7-AC93-90A9-B664DA0E3828}"/>
              </a:ext>
            </a:extLst>
          </p:cNvPr>
          <p:cNvSpPr txBox="1"/>
          <p:nvPr/>
        </p:nvSpPr>
        <p:spPr>
          <a:xfrm>
            <a:off x="5030286" y="2579857"/>
            <a:ext cx="25723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只負責「處理食物」。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他不管客人是誰，他只</a:t>
            </a:r>
            <a:r>
              <a:rPr lang="zh-TW" altLang="en-US" sz="1400" b="1" i="0" dirty="0">
                <a:effectLst/>
                <a:latin typeface="Inter"/>
              </a:rPr>
              <a:t>負責根據菜單把料理做好</a:t>
            </a:r>
            <a:r>
              <a:rPr lang="zh-TW" altLang="en-US" sz="1400" b="0" i="0" dirty="0">
                <a:effectLst/>
                <a:latin typeface="Inter"/>
              </a:rPr>
              <a:t>（邏輯處理）。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3A7C13F-196B-2610-986E-8307CD4D279E}"/>
              </a:ext>
            </a:extLst>
          </p:cNvPr>
          <p:cNvSpPr txBox="1"/>
          <p:nvPr/>
        </p:nvSpPr>
        <p:spPr>
          <a:xfrm>
            <a:off x="9035551" y="2562615"/>
            <a:ext cx="24802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只負責「拿食材」。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主廚說要牛肉，他</a:t>
            </a:r>
            <a:r>
              <a:rPr lang="zh-TW" altLang="en-US" sz="1400" b="1" i="0" dirty="0">
                <a:effectLst/>
                <a:latin typeface="Inter"/>
              </a:rPr>
              <a:t>就去冰箱拿牛肉</a:t>
            </a:r>
            <a:r>
              <a:rPr lang="zh-TW" altLang="en-US" sz="1400" b="0" i="0" dirty="0">
                <a:effectLst/>
                <a:latin typeface="Inter"/>
              </a:rPr>
              <a:t>。他不管這牛肉是要做排餐還是快炒。</a:t>
            </a:r>
            <a:endParaRPr lang="zh-TW" altLang="en-US" sz="1400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1B0A21C-F3D0-2625-82B9-47BB2EBE059E}"/>
              </a:ext>
            </a:extLst>
          </p:cNvPr>
          <p:cNvCxnSpPr>
            <a:cxnSpLocks/>
          </p:cNvCxnSpPr>
          <p:nvPr/>
        </p:nvCxnSpPr>
        <p:spPr>
          <a:xfrm>
            <a:off x="7483876" y="4470549"/>
            <a:ext cx="165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9BA17A7-361C-5DB5-84EA-E9D3E94AEFEA}"/>
              </a:ext>
            </a:extLst>
          </p:cNvPr>
          <p:cNvCxnSpPr>
            <a:cxnSpLocks/>
          </p:cNvCxnSpPr>
          <p:nvPr/>
        </p:nvCxnSpPr>
        <p:spPr>
          <a:xfrm>
            <a:off x="3099772" y="4472028"/>
            <a:ext cx="165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32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CB226-F8A7-B99A-A22C-229AD304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組件標籤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E17C98-9B92-6326-EDD2-4F93BFBC7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 (Controller)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它是程式的門口。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Mapping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對應網址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@Service (Service)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它是程式的大腦。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Business Logic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業務邏輯，例如：打折、過濾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@Repository (Repository)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它是程式的手腳。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資料庫，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CRUD)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6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1" i="0" dirty="0">
                <a:solidFill>
                  <a:srgbClr val="D4D4D4"/>
                </a:solidFill>
                <a:effectLst/>
                <a:latin typeface="Inter"/>
              </a:rPr>
              <a:t> </a:t>
            </a:r>
            <a:br>
              <a:rPr lang="en-US" altLang="zh-TW" b="1" i="0" dirty="0">
                <a:solidFill>
                  <a:srgbClr val="D4D4D4"/>
                </a:solidFill>
                <a:effectLst/>
                <a:latin typeface="Inter"/>
              </a:rPr>
            </a:br>
            <a:r>
              <a:rPr lang="en-US" altLang="zh-TW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Repository </a:t>
            </a:r>
            <a:r>
              <a:rPr lang="zh-TW" alt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：假設資料庫裡有一個名字。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用一個簡單的「問候系統」展示資料怎麼傳遞。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@Repository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getNameFromDB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王小明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模擬從資料庫拿資料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8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br>
              <a:rPr lang="en-US" altLang="zh-TW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 </a:t>
            </a:r>
            <a:r>
              <a:rPr lang="zh-TW" alt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：把名字加工，加上問候語。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@Service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private final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this.nameRepository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getGreeting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String name =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nameRepository.findName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你好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" + name +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！歡迎光臨。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45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b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 </a:t>
            </a:r>
            <a:r>
              <a:rPr lang="zh-TW" alt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：設定網址。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GreetController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@Autowired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private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叫主廚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@GetMapping("/hello")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sayHello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greetService.makeGreeting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回傳結果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27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1D2D7-EB39-FC3C-57FF-1C8EF793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課堂習題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實作「商品折扣計算器」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B37258-577D-251D-62C5-96EF89021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題目背景：</a:t>
            </a:r>
            <a:b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我們要寫一個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，當輸入商品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時，系統會回傳該商品的打折後價格。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Repository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已經寫好，會根據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給你原始價格。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學生實作重點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負責計算打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折後的價格。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學生實作重點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負責接收網址 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/price/{id}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/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學生填空作業：</a:t>
            </a:r>
          </a:p>
          <a:p>
            <a:pPr algn="l"/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請學生在紙上或編輯器中完成 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...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的部分：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019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97AA06-2ACE-6F04-9873-80AAC6CE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 </a:t>
            </a:r>
            <a:r>
              <a:rPr lang="en-US" altLang="zh-TW" dirty="0"/>
              <a:t>1</a:t>
            </a:r>
            <a:r>
              <a:rPr lang="zh-TW" altLang="en-US" dirty="0"/>
              <a:t>：商品價格查詢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7A69A-E968-D817-3C63-B7220EC6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522" y="1919588"/>
            <a:ext cx="5087078" cy="4938412"/>
          </a:xfrm>
        </p:spPr>
        <p:txBody>
          <a:bodyPr>
            <a:noAutofit/>
          </a:bodyPr>
          <a:lstStyle/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@Repository</a:t>
            </a:r>
          </a:p>
          <a:p>
            <a:r>
              <a:rPr lang="en-US" altLang="zh-TW" sz="160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Integer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findPriceById</a:t>
            </a:r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String 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6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"A001"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6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"A002"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86F377-BF47-8A1D-8A41-5FAD6E748839}"/>
              </a:ext>
            </a:extLst>
          </p:cNvPr>
          <p:cNvSpPr txBox="1"/>
          <p:nvPr/>
        </p:nvSpPr>
        <p:spPr>
          <a:xfrm>
            <a:off x="1097280" y="1919588"/>
            <a:ext cx="2226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前端呼叫</a:t>
            </a:r>
            <a:br>
              <a:rPr lang="zh-TW" altLang="en-US" dirty="0"/>
            </a:br>
            <a:r>
              <a:rPr lang="en-US" altLang="zh-TW" dirty="0"/>
              <a:t>GET 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/products/A001/price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261467-4266-54DA-ED58-951E28310969}"/>
              </a:ext>
            </a:extLst>
          </p:cNvPr>
          <p:cNvSpPr txBox="1"/>
          <p:nvPr/>
        </p:nvSpPr>
        <p:spPr>
          <a:xfrm>
            <a:off x="1097280" y="4097288"/>
            <a:ext cx="23374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後端回傳</a:t>
            </a:r>
            <a:br>
              <a:rPr lang="zh-TW" altLang="en-US" dirty="0"/>
            </a:br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"A001"</a:t>
            </a:r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"price"</a:t>
            </a:r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endParaRPr lang="en-US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95FE58-3CB3-8017-DB5D-85CCD407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D187B1-90E8-AA41-73AC-43FE16FE10A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433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@Service</a:t>
            </a:r>
          </a:p>
          <a:p>
            <a:r>
              <a:rPr lang="en-US" altLang="zh-TW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private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final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this</a:t>
            </a:r>
            <a:r>
              <a:rPr lang="en-US" altLang="zh-TW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Integer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getPrice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sz="16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TODO: </a:t>
            </a:r>
            <a:r>
              <a:rPr lang="zh-TW" altLang="en-US" sz="16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請呼叫 </a:t>
            </a:r>
            <a:r>
              <a:rPr lang="en-US" altLang="zh-TW" sz="16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repository </a:t>
            </a:r>
            <a:r>
              <a:rPr lang="zh-TW" altLang="en-US" sz="16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查詢價格</a:t>
            </a: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07368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7D2396-96E0-F1F5-958D-03C86218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1C8E6E8-E53F-C25D-BFE6-1E6922FA2F7A}"/>
              </a:ext>
            </a:extLst>
          </p:cNvPr>
          <p:cNvSpPr txBox="1"/>
          <p:nvPr/>
        </p:nvSpPr>
        <p:spPr>
          <a:xfrm>
            <a:off x="1097280" y="1881252"/>
            <a:ext cx="10058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@RestController</a:t>
            </a:r>
          </a:p>
          <a:p>
            <a:r>
              <a:rPr lang="en-US" altLang="zh-TW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ProductController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private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final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ProductController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this</a:t>
            </a:r>
            <a:r>
              <a:rPr lang="en-US" altLang="zh-TW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zh-TW" altLang="en-US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@GetMapping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b="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"/products/{id}/price"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Map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Object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&gt;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getProductPrice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@PathVariable String id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TODO: </a:t>
            </a:r>
            <a:r>
              <a:rPr lang="zh-TW" altLang="en-US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請呼叫 </a:t>
            </a:r>
            <a:r>
              <a:rPr lang="en-US" altLang="zh-TW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service </a:t>
            </a:r>
            <a:r>
              <a:rPr lang="zh-TW" altLang="en-US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取得價格，並回傳 </a:t>
            </a:r>
            <a:r>
              <a:rPr lang="en-US" altLang="zh-TW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id </a:t>
            </a:r>
            <a:r>
              <a:rPr lang="zh-TW" altLang="en-US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與 </a:t>
            </a:r>
            <a:r>
              <a:rPr lang="en-US" altLang="zh-TW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price</a:t>
            </a:r>
          </a:p>
          <a:p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zh-TW" altLang="en-US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5276420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7991</TotalTime>
  <Words>901</Words>
  <Application>Microsoft Office PowerPoint</Application>
  <PresentationFormat>寬螢幕</PresentationFormat>
  <Paragraphs>119</Paragraphs>
  <Slides>11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-apple-system-body</vt:lpstr>
      <vt:lpstr>Inter</vt:lpstr>
      <vt:lpstr>標楷體</vt:lpstr>
      <vt:lpstr>Arial</vt:lpstr>
      <vt:lpstr>Calibri</vt:lpstr>
      <vt:lpstr>Calibri Light</vt:lpstr>
      <vt:lpstr>Consolas</vt:lpstr>
      <vt:lpstr>Courier New</vt:lpstr>
      <vt:lpstr>Times New Roman</vt:lpstr>
      <vt:lpstr>回顧</vt:lpstr>
      <vt:lpstr>Spring Boot 三層架構  (3-Layer Architecture)</vt:lpstr>
      <vt:lpstr>為什麼要學「架構」？</vt:lpstr>
      <vt:lpstr>生活化比喻 —— 餐廳經營</vt:lpstr>
      <vt:lpstr>組件標籤</vt:lpstr>
      <vt:lpstr>範例程式拆解 (一)  Repository 層：假設資料庫裡有一個名字。</vt:lpstr>
      <vt:lpstr>範例程式拆解 (二)  Service 層：把名字加工，加上問候語。</vt:lpstr>
      <vt:lpstr>範例程式拆解 (三)  Controller 層：設定網址。</vt:lpstr>
      <vt:lpstr>課堂習題 - 實作「商品折扣計算器」</vt:lpstr>
      <vt:lpstr>習題 1：商品價格查詢 API</vt:lpstr>
      <vt:lpstr>PowerPoint 簡報</vt:lpstr>
      <vt:lpstr>PowerPoint 簡報</vt:lpstr>
    </vt:vector>
  </TitlesOfParts>
  <Company>Cathay Century Insurance CO.,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三層架構 (3-Layer Architecture)</dc:title>
  <dc:creator>陳禹翔 Grant</dc:creator>
  <cp:lastModifiedBy>陳禹翔 Grant</cp:lastModifiedBy>
  <cp:revision>9</cp:revision>
  <dcterms:created xsi:type="dcterms:W3CDTF">2026-04-02T03:27:48Z</dcterms:created>
  <dcterms:modified xsi:type="dcterms:W3CDTF">2026-05-19T08:59:03Z</dcterms:modified>
</cp:coreProperties>
</file>