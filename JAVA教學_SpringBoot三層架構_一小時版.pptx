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開場：今天不是要大家一次學會完整 Spring Boot，而是先抓住後端專案最常見的分層思維。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這頁要先降低壓力：不教完整資料庫、不教完整前端串接，今天只聚焦在三層架構。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避免學生誤會這堂是前後端整合。可以說：會提到前端類比，但實作只寫後端。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/price/1 當主軸，後面練習也會用它。先讓學生知道後端有一連串責任。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可以問學生：你們有沒有看過超長程式碼？這個痛點講得越生活化越好。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這頁不是說這樣不能跑，而是說專案長大後會失控。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本課最重要的一頁，建議停久一點。強調每層只做自己的事。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用前端類比降低理解門檻，但要提醒：後端才是可信任的邏輯執行位置。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比喻時可以問：服務生如果自己決定折扣、自己跑倉庫拿食材，餐廳會怎樣？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 Controller 是入口，不是邏輯垃圾桶。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這頁可以連到回家作業的會員折扣：會員折扣規則就應該放 Service。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說明為什麼不一開始就接資料庫：避免混入太多主題。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可以提醒：先理解責任，再背語法。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這頁是過渡頁，讓學生先有整體圖。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提醒：Repository 不要放歡迎詞，因為歡迎詞是邏輯，不是資料來源。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 @Autowired 是讓 Service 能使用 Repository。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可以再對照前端 Router：看到 /hello 後決定執行哪段邏輯。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這頁作為小練習前的收斂。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實際上課時，前面節奏可以快一點，這裡留 8–10 分鐘給學生動手。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給學生看已提供的資料來源。不要讓學生一開始卡在 Repository。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這頁就是課堂練習主體。建議給 8 分鐘，然後 2 分鐘請學生互相看。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不要只公布答案，要指出為什麼折扣公式放在 Service。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回家作業可以要求截圖或貼 code。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這裡只是點到為止，不需要現場展開 DTO，避免超時。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結尾呼應開場：以後看 Spring Boot 專案時，先找 Controller 入口，再追 Service 和 Repository。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863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E9E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從前端思維理解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6903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Spring Boot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三層架構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13232" y="3154680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3-Layer Architecture：Controller / Service / Repository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2376" y="3657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6E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一小時入門版｜含課堂小練習與回家作業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09560" y="1078992"/>
            <a:ext cx="2606040" cy="685800"/>
          </a:xfrm>
          <a:prstGeom prst="rect">
            <a:avLst/>
          </a:prstGeom>
          <a:solidFill>
            <a:srgbClr val="EAF9FB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09560" y="2267712"/>
            <a:ext cx="2606040" cy="685800"/>
          </a:xfrm>
          <a:prstGeom prst="rect">
            <a:avLst/>
          </a:prstGeom>
          <a:solidFill>
            <a:srgbClr val="FFF3CF"/>
          </a:solidFill>
          <a:ln w="15240">
            <a:solidFill>
              <a:srgbClr val="F29F0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09560" y="3456432"/>
            <a:ext cx="2606040" cy="685800"/>
          </a:xfrm>
          <a:prstGeom prst="rect">
            <a:avLst/>
          </a:prstGeom>
          <a:solidFill>
            <a:srgbClr val="EDF7EF"/>
          </a:solidFill>
          <a:ln w="15240">
            <a:solidFill>
              <a:srgbClr val="2F8F5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17152" y="1810512"/>
            <a:ext cx="0" cy="384048"/>
          </a:xfrm>
          <a:prstGeom prst="line">
            <a:avLst/>
          </a:prstGeom>
          <a:noFill/>
          <a:ln w="19050">
            <a:solidFill>
              <a:srgbClr val="BEE9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217152" y="2999232"/>
            <a:ext cx="0" cy="384048"/>
          </a:xfrm>
          <a:prstGeom prst="line">
            <a:avLst/>
          </a:prstGeom>
          <a:noFill/>
          <a:ln w="19050">
            <a:solidFill>
              <a:srgbClr val="BEE9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13232" y="5943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E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講師：陳禹翔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這一小時要達成什麼？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先建立共同目標：知道三層各自負責什麼，以及資料怎麼流動。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課程定位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8A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167128"/>
            <a:ext cx="228600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 Spring Boot 專案中 Controller / Service / Repository 的分工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F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167128"/>
            <a:ext cx="228600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知道哪些邏輯不該塞在 Controller 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8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2167128"/>
            <a:ext cx="228600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完成一個商品折扣 API 的後端三層架構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8A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44000" y="2167128"/>
            <a:ext cx="228600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拿到回家作業：會員折扣系統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今天的重點不是背 annotation，而是建立一個能讀懂後端專案的地圖。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先說清楚：今天不教前端串接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會用前端概念做類比，但課程主體仍然是 Java 後端。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課程定位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297680" cy="310896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今天會講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Spring Boot API 入口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後端三層架構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商業邏輯要放哪裡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 API 小練習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297680" cy="3108960"/>
          </a:xfrm>
          <a:prstGeom prst="rect">
            <a:avLst/>
          </a:prstGeom>
          <a:solidFill>
            <a:srgbClr val="FFFFFF"/>
          </a:solidFill>
          <a:ln w="16510">
            <a:solidFill>
              <a:srgbClr val="F29F05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今天不深入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fetch / axios 串接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CORS 問題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前端狀態管理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畫面設計與元件拆分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525780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定位：用前端熟悉的「路由、邏輯、資料取得」概念，理解後端三層分工。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後端到底在做什麼？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從一個網址請求開始，看後端要完成哪些工作。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5–10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核心觀念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0574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例如：GET /price/1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520440" y="2240280"/>
            <a:ext cx="1600200" cy="822960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接收請求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30368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43600" y="2240280"/>
            <a:ext cx="1600200" cy="822960"/>
          </a:xfrm>
          <a:prstGeom prst="rect">
            <a:avLst/>
          </a:prstGeom>
          <a:solidFill>
            <a:srgbClr val="FFF3CF"/>
          </a:solidFill>
          <a:ln w="15240">
            <a:solidFill>
              <a:srgbClr val="F29F0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處理規則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62672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366760" y="2240280"/>
            <a:ext cx="1600200" cy="822960"/>
          </a:xfrm>
          <a:prstGeom prst="rect">
            <a:avLst/>
          </a:prstGeom>
          <a:solidFill>
            <a:srgbClr val="EDF7EF"/>
          </a:solidFill>
          <a:ln w="15240">
            <a:solidFill>
              <a:srgbClr val="2F8F5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取得資料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76688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789920" y="2240280"/>
            <a:ext cx="9601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2A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回傳結果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後端不是只「回傳字串」，而是把請求、邏輯、資料存取組織起來。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為什麼要學「架構」？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程式能跑只是第一步，真正困難的是能維護。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10–15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64922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剛開始功能少，全部寫在一起很快。</a:t>
            </a:r>
            <a:endParaRPr lang="en-US" sz="2000" dirty="0"/>
          </a:p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功能一多，Controller 會變成巨大檔案。</a:t>
            </a:r>
            <a:endParaRPr lang="en-US" sz="2000" dirty="0"/>
          </a:p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改一個折扣規則，可能牽動很多地方。</a:t>
            </a:r>
            <a:endParaRPr lang="en-US" sz="2000" dirty="0"/>
          </a:p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Bug 發生時，不知道該去哪一層找問題。</a:t>
            </a:r>
            <a:endParaRPr lang="en-US" sz="2000" dirty="0"/>
          </a:p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新人接手時，只能從頭猜程式在幹嘛。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0" y="1874520"/>
            <a:ext cx="2286000" cy="1463040"/>
          </a:xfrm>
          <a:prstGeom prst="rect">
            <a:avLst/>
          </a:prstGeom>
          <a:solidFill>
            <a:srgbClr val="FCEAEA"/>
          </a:solidFill>
          <a:ln w="15240">
            <a:solidFill>
              <a:srgbClr val="C94C4C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4C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短期方便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C94C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長期痛苦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沒有分層：義大利麵 Controller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所有責任都塞在一起，初學時常見，但非常難維護。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15–18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440680" cy="42519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36192"/>
            <a:ext cx="5148072" cy="4014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@GetMapping("/price/{id}")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String getPrice(@PathVariable int id)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int price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if (id == 1) price = 1000;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if (id == 2) price = 2000;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int discountPrice = (int)(price * 0.8);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return "折扣後價格：" + discountPrice;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554480"/>
            <a:ext cx="4480560" cy="3474720"/>
          </a:xfrm>
          <a:prstGeom prst="rect">
            <a:avLst/>
          </a:prstGeom>
          <a:solidFill>
            <a:srgbClr val="FFFFFF"/>
          </a:solidFill>
          <a:ln w="16510">
            <a:solidFill>
              <a:srgbClr val="C94C4C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問題在哪？
</a:t>
            </a:r>
            <a:pPr indent="0" marL="0">
              <a:buNone/>
            </a:pPr>
            <a:r>
              <a:rPr lang="en-US" sz="15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同時負責：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接收網址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準備資料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計算折扣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回傳文字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責任混在一起，功能越長越難改。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三層架構總覽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把後端責任切成三層：入口、邏輯、資料。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18–25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三層架構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8288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9C4C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Client / 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發出請求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2724912"/>
            <a:ext cx="64008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520440" y="2240280"/>
            <a:ext cx="1874520" cy="960120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接收請求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0" y="2724912"/>
            <a:ext cx="50292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26480" y="2240280"/>
            <a:ext cx="1874520" cy="960120"/>
          </a:xfrm>
          <a:prstGeom prst="rect">
            <a:avLst/>
          </a:prstGeom>
          <a:solidFill>
            <a:srgbClr val="FFF3CF"/>
          </a:solidFill>
          <a:ln w="15240">
            <a:solidFill>
              <a:srgbClr val="F29F0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處理邏輯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24912"/>
            <a:ext cx="50292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732520" y="2240280"/>
            <a:ext cx="1874520" cy="960120"/>
          </a:xfrm>
          <a:prstGeom prst="rect">
            <a:avLst/>
          </a:prstGeom>
          <a:solidFill>
            <a:srgbClr val="EDF7EF"/>
          </a:solidFill>
          <a:ln w="15240">
            <a:solidFill>
              <a:srgbClr val="2F8F5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存取資料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98480" y="2724912"/>
            <a:ext cx="45720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173968" y="2240280"/>
            <a:ext cx="7772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E2A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口訣：Controller 接、Service 算、Repository 拿。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用前端概念類比後端三層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只是類比，不代表兩邊完全相同。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25–30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三層架構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920240" cy="713232"/>
          </a:xfrm>
          <a:prstGeom prst="rect">
            <a:avLst/>
          </a:prstGeom>
          <a:solidFill>
            <a:srgbClr val="0E2A47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後端層級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4663440" cy="713232"/>
          </a:xfrm>
          <a:prstGeom prst="rect">
            <a:avLst/>
          </a:prstGeom>
          <a:solidFill>
            <a:srgbClr val="0E2A47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負責工作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269480" y="1417320"/>
            <a:ext cx="4251960" cy="713232"/>
          </a:xfrm>
          <a:prstGeom prst="rect">
            <a:avLst/>
          </a:prstGeom>
          <a:solidFill>
            <a:srgbClr val="0E2A47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前端類比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85800" y="2130552"/>
            <a:ext cx="19202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606040" y="2130552"/>
            <a:ext cx="46634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接收網址請求、決定入口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269480" y="2130552"/>
            <a:ext cx="425196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Router / Page 入口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19202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606040" y="2843784"/>
            <a:ext cx="46634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商業邏輯、計算、判斷規則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269480" y="2843784"/>
            <a:ext cx="425196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資料整理、條件判斷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85800" y="3557016"/>
            <a:ext cx="19202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2606040" y="3557016"/>
            <a:ext cx="46634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取得或儲存資料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269480" y="3557016"/>
            <a:ext cx="425196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function / 資料取得函式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85800" y="4270248"/>
            <a:ext cx="19202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Database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2606040" y="4270248"/>
            <a:ext cx="466344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真正儲存資料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269480" y="4270248"/>
            <a:ext cx="4251960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後端資料來源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68680" y="5486400"/>
            <a:ext cx="10424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4C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重點：重要商業邏輯不要只放前端，因為前端程式碼可能被看到或被改。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生活化比喻：餐廳經營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分層不是抽象規則，而是分工合作。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30–34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三層架構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2514600" cy="297180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服務生
Controller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面對客人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接菜單、送結果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不自己下廚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2971800"/>
            <a:ext cx="68580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480560" y="1508760"/>
            <a:ext cx="2514600" cy="2971800"/>
          </a:xfrm>
          <a:prstGeom prst="rect">
            <a:avLst/>
          </a:prstGeom>
          <a:solidFill>
            <a:srgbClr val="FFFFFF"/>
          </a:solidFill>
          <a:ln w="16510">
            <a:solidFill>
              <a:srgbClr val="F29F05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主廚
Service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處理料理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判斷規則、加工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不負責招呼客人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2971800"/>
            <a:ext cx="68580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183880" y="1508760"/>
            <a:ext cx="2514600" cy="297180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倉庫管理員
Repository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拿食材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提供資料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不決定料理規則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服務生不該煮菜；主廚不該跑去資料庫翻冰箱。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Controller：後端 API 的入口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 HTTP Request，然後把工作交給 Service。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34–38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三個角色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840480" cy="201168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該做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接收網址與參數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選擇要呼叫哪個 Service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回傳結果給呼叫者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84048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C94C4C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不該做太多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複雜計算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會員規則判斷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資料庫查詢細節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大量 if-else 商業邏輯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66360" y="1417320"/>
            <a:ext cx="6217920" cy="4114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12664" y="1536192"/>
            <a:ext cx="5925312" cy="3877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@RestController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GreetController {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@GetMapping("/hello")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String sayHello()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"Hello Spring Boot";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Service：商業邏輯的大腦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打折、判斷、計算、檢查資料，通常放在 Service。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38–42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三個角色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931920" cy="2240280"/>
          </a:xfrm>
          <a:prstGeom prst="rect">
            <a:avLst/>
          </a:prstGeom>
          <a:solidFill>
            <a:srgbClr val="FFFFFF"/>
          </a:solidFill>
          <a:ln w="16510">
            <a:solidFill>
              <a:srgbClr val="F29F05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 負責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折扣計算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會員等級判斷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資料格式整理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檢查資料是否合理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931920" cy="164592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為什麼放這裡？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邏輯可以重複使用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變簡單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比較容易測試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未來改規則比較安全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0" y="1554480"/>
            <a:ext cx="6035040" cy="30175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8384" y="1673352"/>
            <a:ext cx="574243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@Service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ProductService {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int calculateDiscountPrice(int price)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(int)(price * 0.8);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6035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關鍵句：規則要集中，不要散落在各個 Controller。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Repository：資料存取層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負責拿資料、存資料；不負責決定商業規則。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42–45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三個角色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5212080" cy="41605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36192"/>
            <a:ext cx="4919472" cy="3922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@Repository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ProductRepository {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int findPriceById(int id)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if (id == 1) return 1000;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if (id == 2) return 2000;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554480"/>
            <a:ext cx="4526280" cy="342900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今天先用假資料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為了把重點放在三層架構，Repository 先用 if 判斷模擬資料庫。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之後真的接資料庫時，這一層會改成 JPA / SQL，但 Controller 和 Service 不需要全部重寫。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 Annotation 速查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先知道它們在三層中扮演什麼角色，不用一次背完所有細節。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45–48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三個角色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2286000" cy="621792"/>
          </a:xfrm>
          <a:prstGeom prst="rect">
            <a:avLst/>
          </a:prstGeom>
          <a:solidFill>
            <a:srgbClr val="0E2A47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Annotation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325880"/>
            <a:ext cx="8138160" cy="621792"/>
          </a:xfrm>
          <a:prstGeom prst="rect">
            <a:avLst/>
          </a:prstGeom>
          <a:solidFill>
            <a:srgbClr val="0E2A47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947672"/>
            <a:ext cx="22860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@RestController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1947672"/>
            <a:ext cx="813816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宣告這個 class 是 API 入口，通常放在 Controller 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569464"/>
            <a:ext cx="22860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@Service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0" y="2569464"/>
            <a:ext cx="813816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宣告這個 class 是邏輯處理層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191256"/>
            <a:ext cx="22860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@Repository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3191256"/>
            <a:ext cx="813816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宣告這個 class 是資料存取層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813048"/>
            <a:ext cx="22860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@Autowired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08960" y="3813048"/>
            <a:ext cx="813816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Spring 幫你把需要的物件接起來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22860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@GetMapping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4434840"/>
            <a:ext cx="813816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 GET 網址對應哪個方法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056632"/>
            <a:ext cx="22860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@PathVariable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5056632"/>
            <a:ext cx="813816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從網址中取出變數，例如 /price/{id} 的 id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範例：問候系統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用最小範例，看資料如何通過三層。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48–50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完整範例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目標：使用者呼叫 /hello，後端回傳「你好, 王小明！歡迎光臨。」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4173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B9C4C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/hello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23160" y="3108960"/>
            <a:ext cx="5486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108960" y="2697480"/>
            <a:ext cx="1920240" cy="822960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GreetController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166360" y="3108960"/>
            <a:ext cx="5486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52160" y="2697480"/>
            <a:ext cx="1920240" cy="822960"/>
          </a:xfrm>
          <a:prstGeom prst="rect">
            <a:avLst/>
          </a:prstGeom>
          <a:solidFill>
            <a:srgbClr val="FFF3CF"/>
          </a:solidFill>
          <a:ln w="15240">
            <a:solidFill>
              <a:srgbClr val="F29F0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GreetService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09560" y="3108960"/>
            <a:ext cx="5486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595360" y="2697480"/>
            <a:ext cx="2057400" cy="822960"/>
          </a:xfrm>
          <a:prstGeom prst="rect">
            <a:avLst/>
          </a:prstGeom>
          <a:solidFill>
            <a:srgbClr val="EDF7EF"/>
          </a:solidFill>
          <a:ln w="15240">
            <a:solidFill>
              <a:srgbClr val="2F8F5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NameRepository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接下來用三張程式碼頁，把 Repository → Service → Controller 拆開看。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範例拆解一：Repository 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只負責提供資料，先模擬從資料庫拿名字。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50–52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完整範例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6035040" cy="3566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1581912"/>
            <a:ext cx="5742432" cy="3328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@Repository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NameRepository {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String getNameFromDB()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"王小明";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52360" y="1691640"/>
            <a:ext cx="3337560" cy="265176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看懂這段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這一層只回答一件事：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「資料在哪裡？」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它不負責加問候語，也不負責接收網址。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範例拆解二：Service 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跟 Repository 要資料，然後加工成問候語。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52–54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完整範例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6903720" cy="44805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490472"/>
            <a:ext cx="6611112" cy="424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GreetService {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@Autowired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private NameRepository nameRepository;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String makeGreeting()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String name = nameRepository.getNameFromDB();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"你好, " + name + "！歡迎光臨。";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1645920"/>
            <a:ext cx="3291840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F29F05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 做了什麼？
</a:t>
            </a:r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呼叫 Repository 拿名字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把名字組合成問候語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回傳加工後的結果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這就是「業務邏輯」。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範例拆解三：Controller 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設定網址 /hello，讓外部可以呼叫。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54–56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完整範例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6903720" cy="44805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490472"/>
            <a:ext cx="6611112" cy="424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@RestController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GreetController {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@Autowired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private GreetService greetService;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@GetMapping("/hello")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String sayHello()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greetService.makeGreeting();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1645920"/>
            <a:ext cx="3291840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做了什麼？
</a:t>
            </a:r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看到 /hello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執行 sayHello()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呼叫 Service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把結果回傳出去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不自己組問候語。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資料流動總整理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每一層只做自己的事，資料一層一層傳下去再回來。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56–58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完整範例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141732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B9C4C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使用者進入 /hello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1975104"/>
            <a:ext cx="3200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377440" y="3401568"/>
            <a:ext cx="1417320" cy="987552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GreetController.sayHello()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86200" y="3895344"/>
            <a:ext cx="3200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977640" y="1481328"/>
            <a:ext cx="141732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B9C4C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GreetService.makeGreeting()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1975104"/>
            <a:ext cx="3200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77840" y="3401568"/>
            <a:ext cx="1417320" cy="987552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NameRepository.getNameFromDB()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86600" y="3895344"/>
            <a:ext cx="3200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178040" y="1481328"/>
            <a:ext cx="141732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B9C4C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回傳「王小明」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0" y="1975104"/>
            <a:ext cx="3200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778240" y="3401568"/>
            <a:ext cx="1417320" cy="987552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 加上問候語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287000" y="3895344"/>
            <a:ext cx="32004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378440" y="1481328"/>
            <a:ext cx="141732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B9C4C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回傳結果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5349240"/>
            <a:ext cx="10058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檢查自己有沒有懂：你能不能說出「哪一層負責哪件事」？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課堂小練習：商品折扣 API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後端練習，用前端商品頁面的需求當情境。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58–60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課堂練習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情境：商品頁面需要顯示折扣後價格，但折扣規則不應該寫死在前端。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572000" cy="251460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規格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/price/{id}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/price/1 → 原價 1000 → 折扣後 800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/price/2 → 原價 2000 → 折扣後 1600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572000" cy="2514600"/>
          </a:xfrm>
          <a:prstGeom prst="rect">
            <a:avLst/>
          </a:prstGeom>
          <a:solidFill>
            <a:srgbClr val="FFFFFF"/>
          </a:solidFill>
          <a:ln w="16510">
            <a:solidFill>
              <a:srgbClr val="F29F05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Repository：已提供商品原價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Service：計算 8 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Controller：接收 /price/{id}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學生實作 Service 與 Controller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課堂小練習：已提供 Repository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這一層先不用改，重點是看懂它提供什麼資料。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練習 8–10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課堂練習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6583680" cy="5166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353312"/>
            <a:ext cx="6291072" cy="4928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@Repository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ProductRepository {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int findPriceById(int id)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if (id == 1)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    return 1000;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} else if (id == 2)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    return 2000;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} else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    return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0" y="1874520"/>
            <a:ext cx="3154680" cy="297180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思考問題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ProductRepository 回傳的是什麼？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 要怎麼拿到這個價格？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 id 不存在，會發生什麼？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課堂小練習：請完成 Service 與 Controller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先不要看答案，目標是把三層接起來。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練習 8–10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課堂練習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53312"/>
            <a:ext cx="5239512" cy="4654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@Service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ProductService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@Autowired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private ProductRepository productRepository;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int getDiscountPrice(int 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int originalPrice = productRepository.findPriceById(id);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// TODO：計算 8 折後價格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0;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5212080" cy="4892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353312"/>
            <a:ext cx="4919472" cy="4654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@RestController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class ProductController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@Autowired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private ProductService productService;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@GetMapping("/price/{id}")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public String getPrice(@PathVariable int 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// TODO：呼叫 Service 取得折扣後價格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return "";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課堂小練習：參考答案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答案不是唯一，但責任分層要正確。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檢討 6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課堂練習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49240" cy="1600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53312"/>
            <a:ext cx="5056632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int getDiscountPrice(int id) {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int originalPrice = productRepository.findPriceById(id);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return (int)(originalPrice * 0.8);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5349240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3273552"/>
            <a:ext cx="5056632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@GetMapping("/price/{id}")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public String getPrice(@PathVariable int id) {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int discountPrice = productService.getDiscountPrice(id);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return "商品 ID：" + id +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         "，折扣後價格：" + discountPrice;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6492240" y="1417320"/>
            <a:ext cx="4343400" cy="388620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檢討重點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Controller：負責接收 id 與回傳結果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Service：負責折扣計算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Repository：負責提供原價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不要把折扣公式塞進 Controller。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回家作業：會員折扣系統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把課堂折扣 API 擴充成有會員等級的版本。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 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回家作業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749040" cy="2194560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規格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/member-price/{id}/{level}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/member-price/1/gold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4920" y="1463040"/>
            <a:ext cx="1417320" cy="429768"/>
          </a:xfrm>
          <a:prstGeom prst="rect">
            <a:avLst/>
          </a:prstGeom>
          <a:solidFill>
            <a:srgbClr val="0E2A47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會員等級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1463040"/>
            <a:ext cx="1417320" cy="429768"/>
          </a:xfrm>
          <a:prstGeom prst="rect">
            <a:avLst/>
          </a:prstGeom>
          <a:solidFill>
            <a:srgbClr val="0E2A47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折扣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74920" y="1892808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normal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1892808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原價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74920" y="2322576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silver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322576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 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74920" y="2752344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2752344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 折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74920" y="3182112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182112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B9C4C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 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1417320"/>
            <a:ext cx="2971800" cy="2651760"/>
          </a:xfrm>
          <a:prstGeom prst="rect">
            <a:avLst/>
          </a:prstGeom>
          <a:solidFill>
            <a:srgbClr val="FFFFFF"/>
          </a:solidFill>
          <a:ln w="16510">
            <a:solidFill>
              <a:srgbClr val="F29F05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必做
</a:t>
            </a:r>
            <a:pPr indent="0" marL="0">
              <a:buNone/>
            </a:pPr>
            <a:r>
              <a:rPr lang="en-US" sz="133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ProductRepository：根據 id 回傳原價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MemberPriceService：根據 level 計算折扣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MemberPriceController：接收 id 和 level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這份作業的核心不是寫很多程式，而是讓分層責任保持乾淨。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加分挑戰：回傳 JSON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 API 通常不只回字串，而是回結構化資料。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 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回家作業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4754880" cy="30175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490472"/>
            <a:ext cx="446227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// 期待回傳格式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"productId":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"memberLevel": "gold",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"originalPrice": 1000,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  "discountPrice": 800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4434840" cy="306324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加分方向
</a:t>
            </a:r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DTO / Response class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回傳物件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Spring Boot 自動轉成 JSON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思考：前端拿到 JSON 後可以更容易顯示畫面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總結：三層架構不是炫技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它的目的，是讓程式碼能長期維護。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29800" y="429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8A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總結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2331720" cy="960120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接收請求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03320" y="2176272"/>
            <a:ext cx="8229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800600" y="1691640"/>
            <a:ext cx="2331720" cy="960120"/>
          </a:xfrm>
          <a:prstGeom prst="rect">
            <a:avLst/>
          </a:prstGeom>
          <a:solidFill>
            <a:srgbClr val="FFF3CF"/>
          </a:solidFill>
          <a:ln w="15240">
            <a:solidFill>
              <a:srgbClr val="F29F0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處理邏輯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60920" y="2176272"/>
            <a:ext cx="8229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458200" y="1691640"/>
            <a:ext cx="2331720" cy="960120"/>
          </a:xfrm>
          <a:prstGeom prst="rect">
            <a:avLst/>
          </a:prstGeom>
          <a:solidFill>
            <a:srgbClr val="EDF7EF"/>
          </a:solidFill>
          <a:ln w="15240">
            <a:solidFill>
              <a:srgbClr val="2F8F5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存取資料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Controller 不要變成萬能垃圾桶。</a:t>
            </a:r>
            <a:endParaRPr lang="en-US" sz="2000" dirty="0"/>
          </a:p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Service 是放規則與計算的核心位置。</a:t>
            </a:r>
            <a:endParaRPr lang="en-US" sz="2000" dirty="0"/>
          </a:p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Repository 只負責資料存取，不決定規則。</a:t>
            </a:r>
            <a:endParaRPr lang="en-US" sz="2000" dirty="0"/>
          </a:p>
          <a:p>
            <a:r>
              <a:rPr lang="en-US" sz="2000" dirty="0">
                <a:solidFill>
                  <a:srgbClr val="1B1E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分層越清楚，之後越好改、好測、好接手。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從前端思維理解 Spring Boot 三層架構</dc:title>
  <dc:subject>Spring Boot 3-Layer Architecture teaching deck</dc:subject>
  <dc:creator>OpenAI</dc:creator>
  <cp:lastModifiedBy>OpenAI</cp:lastModifiedBy>
  <cp:revision>1</cp:revision>
  <dcterms:created xsi:type="dcterms:W3CDTF">2026-05-02T07:09:45Z</dcterms:created>
  <dcterms:modified xsi:type="dcterms:W3CDTF">2026-05-02T07:09:45Z</dcterms:modified>
</cp:coreProperties>
</file>