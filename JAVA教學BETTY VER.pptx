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1" r:id="rId1"/>
  </p:sldMasterIdLst>
  <p:notesMasterIdLst>
    <p:notesMasterId r:id="rId22"/>
  </p:notesMasterIdLst>
  <p:sldIdLst>
    <p:sldId id="256" r:id="rId2"/>
    <p:sldId id="271" r:id="rId3"/>
    <p:sldId id="265" r:id="rId4"/>
    <p:sldId id="266" r:id="rId5"/>
    <p:sldId id="257" r:id="rId6"/>
    <p:sldId id="272" r:id="rId7"/>
    <p:sldId id="274" r:id="rId8"/>
    <p:sldId id="273" r:id="rId9"/>
    <p:sldId id="268" r:id="rId10"/>
    <p:sldId id="258" r:id="rId11"/>
    <p:sldId id="259" r:id="rId12"/>
    <p:sldId id="269" r:id="rId13"/>
    <p:sldId id="270" r:id="rId14"/>
    <p:sldId id="275" r:id="rId15"/>
    <p:sldId id="262" r:id="rId16"/>
    <p:sldId id="261" r:id="rId17"/>
    <p:sldId id="260" r:id="rId18"/>
    <p:sldId id="263" r:id="rId19"/>
    <p:sldId id="264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佈景主題樣式 2 - 輔色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佈景主題樣式 2 - 輔色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淺色樣式 1 - 輔色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淺色樣式 1 - 輔色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佈景主題樣式 2 - 輔色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佈景主題樣式 2 - 輔色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4609" autoAdjust="0"/>
  </p:normalViewPr>
  <p:slideViewPr>
    <p:cSldViewPr snapToGrid="0">
      <p:cViewPr varScale="1">
        <p:scale>
          <a:sx n="90" d="100"/>
          <a:sy n="90" d="100"/>
        </p:scale>
        <p:origin x="16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374780-3BA8-45C4-96B3-E4DA451B952B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7C28FB-98DF-4E7F-9559-D67F5677BAF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7604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問題在哪</a:t>
            </a:r>
            <a:r>
              <a:rPr lang="en-US" altLang="zh-TW" dirty="0"/>
              <a:t>?</a:t>
            </a:r>
          </a:p>
          <a:p>
            <a:r>
              <a:rPr lang="en-US" altLang="zh-TW" dirty="0"/>
              <a:t>Controller</a:t>
            </a:r>
            <a:r>
              <a:rPr lang="zh-TW" altLang="en-US" dirty="0"/>
              <a:t>同時負責</a:t>
            </a:r>
            <a:r>
              <a:rPr lang="en-US" altLang="zh-TW" dirty="0"/>
              <a:t>:</a:t>
            </a:r>
            <a:br>
              <a:rPr lang="en-US" altLang="zh-TW" dirty="0"/>
            </a:br>
            <a:r>
              <a:rPr lang="zh-TW" altLang="en-US" dirty="0"/>
              <a:t>接收網址</a:t>
            </a:r>
            <a:br>
              <a:rPr lang="en-US" altLang="zh-TW" dirty="0"/>
            </a:br>
            <a:r>
              <a:rPr lang="zh-TW" altLang="en-US" dirty="0"/>
              <a:t>準備資料</a:t>
            </a:r>
            <a:br>
              <a:rPr lang="en-US" altLang="zh-TW" dirty="0"/>
            </a:br>
            <a:r>
              <a:rPr lang="zh-TW" altLang="en-US" dirty="0"/>
              <a:t>計算折扣</a:t>
            </a:r>
            <a:br>
              <a:rPr lang="en-US" altLang="zh-TW" dirty="0"/>
            </a:br>
            <a:r>
              <a:rPr lang="zh-TW" altLang="en-US" dirty="0"/>
              <a:t>回傳文字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責任混在一起，功能越長越難改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8789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/>
              <a:t>PPT </a:t>
            </a:r>
            <a:r>
              <a:rPr lang="zh-TW" altLang="en-US" b="1" dirty="0"/>
              <a:t>文字建議版</a:t>
            </a:r>
          </a:p>
          <a:p>
            <a:r>
              <a:rPr lang="zh-TW" altLang="en-US" b="1" dirty="0"/>
              <a:t>為什麼要學「架構」？</a:t>
            </a:r>
          </a:p>
          <a:p>
            <a:r>
              <a:rPr lang="zh-TW" altLang="en-US" dirty="0"/>
              <a:t>如果把接收請求、檢查資料、計算規則、存取資料全部寫在同一支程式裡，短期看起來很快，但專案變大後會出現幾個問題：</a:t>
            </a:r>
          </a:p>
          <a:p>
            <a:pPr>
              <a:buFont typeface="+mj-lt"/>
              <a:buAutoNum type="arabicPeriod"/>
            </a:pPr>
            <a:r>
              <a:rPr lang="zh-TW" altLang="en-US" dirty="0"/>
              <a:t>程式碼越寫越長，越來越難看懂 </a:t>
            </a:r>
          </a:p>
          <a:p>
            <a:pPr>
              <a:buFont typeface="+mj-lt"/>
              <a:buAutoNum type="arabicPeriod"/>
            </a:pPr>
            <a:r>
              <a:rPr lang="zh-TW" altLang="en-US" dirty="0"/>
              <a:t>修改一個地方，可能影響到其他功能 </a:t>
            </a:r>
          </a:p>
          <a:p>
            <a:pPr>
              <a:buFont typeface="+mj-lt"/>
              <a:buAutoNum type="arabicPeriod"/>
            </a:pPr>
            <a:r>
              <a:rPr lang="zh-TW" altLang="en-US" dirty="0"/>
              <a:t>相同邏輯容易被複製貼上，之後很難一起維護 </a:t>
            </a:r>
          </a:p>
          <a:p>
            <a:r>
              <a:rPr lang="zh-TW" altLang="en-US" dirty="0"/>
              <a:t>所以我們會把後端程式拆成不同角色：</a:t>
            </a:r>
          </a:p>
          <a:p>
            <a:pPr rtl="0"/>
            <a:r>
              <a:rPr lang="en-US" altLang="zh-TW" dirty="0"/>
              <a:t>Controller</a:t>
            </a:r>
            <a:r>
              <a:rPr lang="zh-TW" altLang="en-US" dirty="0"/>
              <a:t>：負責接收前端請求</a:t>
            </a:r>
            <a:br>
              <a:rPr lang="zh-TW" altLang="en-US" dirty="0"/>
            </a:br>
            <a:r>
              <a:rPr lang="en-US" altLang="zh-TW" dirty="0"/>
              <a:t>Service</a:t>
            </a:r>
            <a:r>
              <a:rPr lang="zh-TW" altLang="en-US" dirty="0"/>
              <a:t>：負責處理商業邏輯</a:t>
            </a:r>
            <a:br>
              <a:rPr lang="zh-TW" altLang="en-US" dirty="0"/>
            </a:br>
            <a:r>
              <a:rPr lang="en-US" altLang="zh-TW" dirty="0"/>
              <a:t>DAO / Repository</a:t>
            </a:r>
            <a:r>
              <a:rPr lang="zh-TW" altLang="en-US" dirty="0"/>
              <a:t>：負責存取資料</a:t>
            </a:r>
          </a:p>
          <a:p>
            <a:r>
              <a:rPr lang="zh-TW" altLang="en-US" dirty="0"/>
              <a:t>這就是三層式架構的核心概念：</a:t>
            </a:r>
          </a:p>
          <a:p>
            <a:pPr rtl="0"/>
            <a:r>
              <a:rPr lang="zh-TW" altLang="en-US" dirty="0"/>
              <a:t>各司其職，分工合作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79338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可以跟前端說：</a:t>
            </a:r>
          </a:p>
          <a:p>
            <a:r>
              <a:rPr lang="zh-TW" altLang="en-US" dirty="0"/>
              <a:t>在 </a:t>
            </a:r>
            <a:r>
              <a:rPr lang="en-US" altLang="zh-TW" dirty="0"/>
              <a:t>Vue / React </a:t>
            </a:r>
            <a:r>
              <a:rPr lang="zh-TW" altLang="en-US" dirty="0"/>
              <a:t>裡，我們會把畫面拆成元件：</a:t>
            </a:r>
          </a:p>
          <a:p>
            <a:pPr rtl="0"/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Navbar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ProductCard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LoginForm</a:t>
            </a:r>
            <a:endParaRPr lang="en-US" altLang="zh-TW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zh-TW" altLang="en-US" dirty="0"/>
              <a:t>每個元件有自己的責任。</a:t>
            </a:r>
          </a:p>
          <a:p>
            <a:r>
              <a:rPr lang="en-US" altLang="zh-TW" dirty="0"/>
              <a:t>Spring Boot </a:t>
            </a:r>
            <a:r>
              <a:rPr lang="zh-TW" altLang="en-US" dirty="0"/>
              <a:t>也類似，它會把後端程式拆成不同元件：</a:t>
            </a:r>
          </a:p>
          <a:p>
            <a:pPr rtl="0"/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Controller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Service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Repository</a:t>
            </a:r>
          </a:p>
          <a:p>
            <a:r>
              <a:rPr lang="zh-TW" altLang="en-US" dirty="0"/>
              <a:t>而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@Controller</a:t>
            </a:r>
            <a:r>
              <a:rPr lang="zh-TW" altLang="en-US" dirty="0"/>
              <a:t>、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@Service</a:t>
            </a:r>
            <a:r>
              <a:rPr lang="zh-TW" altLang="en-US" dirty="0"/>
              <a:t>、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@Repository</a:t>
            </a:r>
            <a:r>
              <a:rPr lang="en-US" altLang="zh-TW" dirty="0"/>
              <a:t> </a:t>
            </a:r>
            <a:r>
              <a:rPr lang="zh-TW" altLang="en-US" dirty="0"/>
              <a:t>就是告訴 </a:t>
            </a:r>
            <a:r>
              <a:rPr lang="en-US" altLang="zh-TW" dirty="0"/>
              <a:t>Spring</a:t>
            </a:r>
            <a:r>
              <a:rPr lang="zh-TW" altLang="en-US" dirty="0"/>
              <a:t>：</a:t>
            </a:r>
          </a:p>
          <a:p>
            <a:r>
              <a:rPr lang="zh-TW" altLang="en-US" dirty="0"/>
              <a:t>這個 </a:t>
            </a:r>
            <a:r>
              <a:rPr lang="en-US" altLang="zh-TW" dirty="0"/>
              <a:t>class </a:t>
            </a:r>
            <a:r>
              <a:rPr lang="zh-TW" altLang="en-US" dirty="0"/>
              <a:t>是哪一種後端元件。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06556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@RestController</a:t>
            </a:r>
          </a:p>
          <a:p>
            <a:r>
              <a:rPr lang="zh-TW" altLang="en-US" dirty="0"/>
              <a:t>這行是在告訴 </a:t>
            </a:r>
            <a:r>
              <a:rPr lang="en-US" altLang="zh-TW" dirty="0"/>
              <a:t>Spring Boot</a:t>
            </a:r>
            <a:r>
              <a:rPr lang="zh-TW" altLang="en-US" dirty="0"/>
              <a:t>：</a:t>
            </a:r>
          </a:p>
          <a:p>
            <a:r>
              <a:rPr lang="zh-TW" altLang="en-US" dirty="0"/>
              <a:t>這個 </a:t>
            </a:r>
            <a:r>
              <a:rPr lang="en-US" altLang="zh-TW" dirty="0"/>
              <a:t>class </a:t>
            </a:r>
            <a:r>
              <a:rPr lang="zh-TW" altLang="en-US" dirty="0"/>
              <a:t>是一個 </a:t>
            </a:r>
            <a:r>
              <a:rPr lang="en-US" altLang="zh-TW" dirty="0"/>
              <a:t>API Controller</a:t>
            </a:r>
            <a:r>
              <a:rPr lang="zh-TW" altLang="en-US" dirty="0"/>
              <a:t>，負責接收前端打過來的請求。</a:t>
            </a:r>
          </a:p>
          <a:p>
            <a:r>
              <a:rPr lang="zh-TW" altLang="en-US" dirty="0"/>
              <a:t>前端如果呼叫某個 </a:t>
            </a:r>
            <a:r>
              <a:rPr lang="en-US" altLang="zh-TW" dirty="0"/>
              <a:t>API</a:t>
            </a:r>
            <a:r>
              <a:rPr lang="zh-TW" altLang="en-US" dirty="0"/>
              <a:t>，會先進到這裡。</a:t>
            </a:r>
          </a:p>
          <a:p>
            <a:r>
              <a:rPr lang="en-US" altLang="zh-TW" dirty="0"/>
              <a:t>-</a:t>
            </a:r>
          </a:p>
          <a:p>
            <a:r>
              <a:rPr lang="en-US" altLang="zh-TW" dirty="0"/>
              <a:t>public class </a:t>
            </a:r>
            <a:r>
              <a:rPr lang="en-US" altLang="zh-TW" dirty="0" err="1"/>
              <a:t>GreetController</a:t>
            </a:r>
            <a:r>
              <a:rPr lang="en-US" altLang="zh-TW" dirty="0"/>
              <a:t> {</a:t>
            </a:r>
          </a:p>
          <a:p>
            <a:r>
              <a:rPr lang="zh-TW" altLang="en-US" dirty="0"/>
              <a:t>這是建立一個 </a:t>
            </a:r>
            <a:r>
              <a:rPr lang="en-US" altLang="zh-TW" dirty="0"/>
              <a:t>Controller </a:t>
            </a:r>
            <a:r>
              <a:rPr lang="zh-TW" altLang="en-US" dirty="0"/>
              <a:t>類別，名字叫 </a:t>
            </a:r>
            <a:r>
              <a:rPr lang="en-US" altLang="zh-TW" dirty="0" err="1"/>
              <a:t>GreetController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可以白話講：</a:t>
            </a:r>
          </a:p>
          <a:p>
            <a:r>
              <a:rPr lang="zh-TW" altLang="en-US" dirty="0"/>
              <a:t>這是一個負責處理打招呼 </a:t>
            </a:r>
            <a:r>
              <a:rPr lang="en-US" altLang="zh-TW" dirty="0"/>
              <a:t>API </a:t>
            </a:r>
            <a:r>
              <a:rPr lang="zh-TW" altLang="en-US" dirty="0"/>
              <a:t>的 </a:t>
            </a:r>
            <a:r>
              <a:rPr lang="en-US" altLang="zh-TW" dirty="0"/>
              <a:t>Controller</a:t>
            </a:r>
            <a:r>
              <a:rPr lang="zh-TW" altLang="en-US" dirty="0"/>
              <a:t>。</a:t>
            </a:r>
          </a:p>
          <a:p>
            <a:r>
              <a:rPr lang="en-US" altLang="zh-TW" dirty="0"/>
              <a:t>-</a:t>
            </a:r>
          </a:p>
          <a:p>
            <a:r>
              <a:rPr lang="en-US" altLang="zh-TW" dirty="0"/>
              <a:t>@Autowired</a:t>
            </a:r>
          </a:p>
          <a:p>
            <a:r>
              <a:rPr lang="en-US" altLang="zh-TW" dirty="0"/>
              <a:t>private </a:t>
            </a:r>
            <a:r>
              <a:rPr lang="en-US" altLang="zh-TW" dirty="0" err="1"/>
              <a:t>GreetService</a:t>
            </a:r>
            <a:r>
              <a:rPr lang="en-US" altLang="zh-TW" dirty="0"/>
              <a:t> </a:t>
            </a:r>
            <a:r>
              <a:rPr lang="en-US" altLang="zh-TW" dirty="0" err="1"/>
              <a:t>greetService</a:t>
            </a:r>
            <a:r>
              <a:rPr lang="en-US" altLang="zh-TW" dirty="0"/>
              <a:t>; </a:t>
            </a:r>
          </a:p>
          <a:p>
            <a:r>
              <a:rPr lang="en-US" altLang="zh-TW" dirty="0"/>
              <a:t>Controller </a:t>
            </a:r>
            <a:r>
              <a:rPr lang="zh-TW" altLang="en-US" dirty="0"/>
              <a:t>需要用到 </a:t>
            </a:r>
            <a:r>
              <a:rPr lang="en-US" altLang="zh-TW" dirty="0" err="1"/>
              <a:t>GreetService</a:t>
            </a:r>
            <a:r>
              <a:rPr lang="zh-TW" altLang="en-US" dirty="0"/>
              <a:t>，所以請 </a:t>
            </a:r>
            <a:r>
              <a:rPr lang="en-US" altLang="zh-TW" dirty="0"/>
              <a:t>Spring Boot </a:t>
            </a:r>
            <a:r>
              <a:rPr lang="zh-TW" altLang="en-US" dirty="0"/>
              <a:t>幫我把 </a:t>
            </a:r>
            <a:r>
              <a:rPr lang="en-US" altLang="zh-TW" dirty="0"/>
              <a:t>Service </a:t>
            </a:r>
            <a:r>
              <a:rPr lang="zh-TW" altLang="en-US" dirty="0"/>
              <a:t>放進來。</a:t>
            </a:r>
            <a:endParaRPr lang="en-US" altLang="zh-TW" dirty="0"/>
          </a:p>
          <a:p>
            <a:r>
              <a:rPr lang="en-US" altLang="zh-TW" dirty="0"/>
              <a:t>-</a:t>
            </a:r>
          </a:p>
          <a:p>
            <a:endParaRPr lang="en-US" altLang="zh-TW" dirty="0"/>
          </a:p>
          <a:p>
            <a:pPr rtl="0"/>
            <a:r>
              <a:rPr lang="en-US" altLang="zh-TW" dirty="0"/>
              <a:t>return </a:t>
            </a:r>
            <a:r>
              <a:rPr lang="en-US" altLang="zh-TW" dirty="0" err="1"/>
              <a:t>greetService.makeGreeting</a:t>
            </a:r>
            <a:r>
              <a:rPr lang="en-US" altLang="zh-TW" dirty="0"/>
              <a:t>(); // </a:t>
            </a:r>
            <a:r>
              <a:rPr lang="zh-TW" altLang="en-US" dirty="0"/>
              <a:t>回傳結果</a:t>
            </a:r>
          </a:p>
          <a:p>
            <a:r>
              <a:rPr lang="en-US" altLang="zh-TW" dirty="0"/>
              <a:t>Controller </a:t>
            </a:r>
            <a:r>
              <a:rPr lang="zh-TW" altLang="en-US" dirty="0"/>
              <a:t>不自己產生打招呼文字，而是交給 </a:t>
            </a:r>
            <a:r>
              <a:rPr lang="en-US" altLang="zh-TW" dirty="0" err="1"/>
              <a:t>greetService.makeGreeting</a:t>
            </a:r>
            <a:r>
              <a:rPr lang="en-US" altLang="zh-TW" dirty="0"/>
              <a:t>() </a:t>
            </a:r>
            <a:r>
              <a:rPr lang="zh-TW" altLang="en-US" dirty="0"/>
              <a:t>去處理。</a:t>
            </a:r>
            <a:br>
              <a:rPr lang="zh-TW" altLang="en-US" dirty="0"/>
            </a:br>
            <a:r>
              <a:rPr lang="en-US" altLang="zh-TW" dirty="0"/>
              <a:t>Service </a:t>
            </a:r>
            <a:r>
              <a:rPr lang="zh-TW" altLang="en-US" dirty="0"/>
              <a:t>處理完後，把結果回傳給 </a:t>
            </a:r>
            <a:r>
              <a:rPr lang="en-US" altLang="zh-TW" dirty="0"/>
              <a:t>Controller</a:t>
            </a:r>
            <a:r>
              <a:rPr lang="zh-TW" altLang="en-US" dirty="0"/>
              <a:t>，</a:t>
            </a:r>
            <a:r>
              <a:rPr lang="en-US" altLang="zh-TW" dirty="0"/>
              <a:t>Controller </a:t>
            </a:r>
            <a:r>
              <a:rPr lang="zh-TW" altLang="en-US" dirty="0"/>
              <a:t>再把結果回傳給前端。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58299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 Controller </a:t>
            </a:r>
            <a:r>
              <a:rPr lang="zh-TW" altLang="en-US" dirty="0"/>
              <a:t>是 </a:t>
            </a:r>
            <a:r>
              <a:rPr lang="en-US" altLang="zh-TW" dirty="0"/>
              <a:t>API </a:t>
            </a:r>
            <a:r>
              <a:rPr lang="zh-TW" altLang="en-US" dirty="0"/>
              <a:t>入口</a:t>
            </a:r>
            <a:endParaRPr lang="en-US" altLang="zh-TW" dirty="0"/>
          </a:p>
          <a:p>
            <a:r>
              <a:rPr lang="en-US" altLang="zh-TW" dirty="0"/>
              <a:t>2. Controller </a:t>
            </a:r>
            <a:r>
              <a:rPr lang="zh-TW" altLang="en-US" dirty="0"/>
              <a:t>負責接收前端資料</a:t>
            </a:r>
            <a:endParaRPr lang="en-US" altLang="zh-TW" dirty="0"/>
          </a:p>
          <a:p>
            <a:r>
              <a:rPr lang="en-US" altLang="zh-TW" dirty="0"/>
              <a:t>3.</a:t>
            </a:r>
            <a:r>
              <a:rPr lang="zh-TW" altLang="en-US" dirty="0"/>
              <a:t>屬於登入前的規則判斷</a:t>
            </a:r>
            <a:endParaRPr lang="en-US" altLang="zh-TW" dirty="0"/>
          </a:p>
          <a:p>
            <a:r>
              <a:rPr lang="en-US" altLang="zh-TW" dirty="0"/>
              <a:t>4.</a:t>
            </a:r>
            <a:r>
              <a:rPr lang="zh-TW" altLang="en-US" dirty="0"/>
              <a:t>屬於資料查詢</a:t>
            </a:r>
            <a:endParaRPr lang="en-US" altLang="zh-TW" dirty="0"/>
          </a:p>
          <a:p>
            <a:r>
              <a:rPr lang="en-US" altLang="zh-TW" dirty="0"/>
              <a:t>5.</a:t>
            </a:r>
            <a:r>
              <a:rPr lang="zh-TW" altLang="en-US" dirty="0"/>
              <a:t>屬於登入邏輯</a:t>
            </a:r>
            <a:endParaRPr lang="en-US" altLang="zh-TW" dirty="0"/>
          </a:p>
          <a:p>
            <a:r>
              <a:rPr lang="en-US" altLang="zh-TW" dirty="0"/>
              <a:t>6.</a:t>
            </a:r>
            <a:r>
              <a:rPr lang="zh-TW" altLang="en-US" dirty="0"/>
              <a:t>屬於商業邏輯判斷</a:t>
            </a:r>
            <a:endParaRPr lang="en-US" altLang="zh-TW" dirty="0"/>
          </a:p>
          <a:p>
            <a:r>
              <a:rPr lang="en-US" altLang="zh-TW" dirty="0"/>
              <a:t>7.Controller </a:t>
            </a:r>
            <a:r>
              <a:rPr lang="zh-TW" altLang="en-US" dirty="0"/>
              <a:t>負責回傳 </a:t>
            </a:r>
            <a:r>
              <a:rPr lang="en-US" altLang="zh-TW" dirty="0"/>
              <a:t>response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65182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0245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5E44A-94B5-43C4-BB6C-4A8F3857A577}" type="datetime1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98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F1AB7-5BA6-42EC-B258-377FF983CCDC}" type="datetime1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7817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50947-74BA-4B86-BBDD-46EB9546B05B}" type="datetime1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980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CF845-7DB9-4882-8BCA-BEBC60C4F1CA}" type="datetime1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238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F5547-D445-4140-B4D8-D417023010DC}" type="datetime1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524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CC906-FAD7-406D-8B41-F05834A6D322}" type="datetime1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35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127CE-C26B-4985-A695-176B12DD8B89}" type="datetime1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34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9E4DAFE-EFBD-4BAE-850E-58780F5B136C}" type="datetime1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68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C0808-BD55-469A-BAD8-0715C7D54B5B}" type="datetime1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6486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300FA-AFC3-4BAC-BDAE-9776C9140ED1}" type="datetime1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3024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C985F-8055-49BF-8CBF-EB3F21728F16}" type="datetime1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0998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F6922D4-3686-4F7E-B9A4-F36143A46421}" type="datetime1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0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6BCF52-7B48-9E17-1DA4-723CF6751D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0051" y="2072755"/>
            <a:ext cx="10058400" cy="1939410"/>
          </a:xfrm>
        </p:spPr>
        <p:txBody>
          <a:bodyPr>
            <a:normAutofit fontScale="90000"/>
          </a:bodyPr>
          <a:lstStyle/>
          <a:p>
            <a:pPr algn="ctr"/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從前端思維理解 </a:t>
            </a:r>
            <a:r>
              <a:rPr lang="en-US" altLang="zh-TW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Spring Boot </a:t>
            </a:r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三層架構</a:t>
            </a:r>
            <a:b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Spring Boot 3-Layer Architecture </a:t>
            </a:r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入門</a:t>
            </a:r>
            <a:endParaRPr lang="zh-TW" altLang="en-US" sz="6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AC19F36-AC20-5732-5E9E-D979BEC33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r>
              <a:rPr lang="en-US" altLang="zh-TW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Controller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Service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Repository 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如何分工？</a:t>
            </a:r>
            <a:endParaRPr lang="en-US" altLang="zh-TW" b="1" i="0" dirty="0">
              <a:solidFill>
                <a:schemeClr val="tx1"/>
              </a:solidFill>
              <a:effectLst/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/>
            <a:br>
              <a: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講師：陳禹翔</a:t>
            </a:r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C86EE9-13E6-27CB-5321-A726A497C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6414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18A569-1D5D-F2C4-0E8C-9C8A00251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  <a:r>
              <a:rPr lang="en-US" altLang="zh-TW" dirty="0"/>
              <a:t>(</a:t>
            </a:r>
            <a:r>
              <a:rPr lang="zh-TW" altLang="en-US" dirty="0"/>
              <a:t>水一下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CA3E908-2127-B07A-9023-93C007CBF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56366C-44B0-BA39-5F52-D36B4B316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32195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75FA1D-36F5-1C39-D35A-6B448F2CB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後端到底在幹嘛</a:t>
            </a:r>
            <a:r>
              <a:rPr lang="en-US" altLang="zh-TW" dirty="0"/>
              <a:t>?</a:t>
            </a:r>
            <a:r>
              <a:rPr lang="zh-TW" altLang="en-US" dirty="0">
                <a:solidFill>
                  <a:srgbClr val="FF0000"/>
                </a:solidFill>
              </a:rPr>
              <a:t>後端工作流程</a:t>
            </a:r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zh-TW" altLang="en-US" dirty="0">
                <a:solidFill>
                  <a:srgbClr val="FF0000"/>
                </a:solidFill>
              </a:rPr>
              <a:t>圖上面標記前端位置讓他們知道他們的定位</a:t>
            </a:r>
            <a:r>
              <a:rPr lang="en-US" altLang="zh-TW" dirty="0">
                <a:solidFill>
                  <a:srgbClr val="FF0000"/>
                </a:solidFill>
              </a:rPr>
              <a:t>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7B8656-3A18-63CB-FBA6-E0D6FB704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592F6EA4-4FD7-DFDF-5C33-2DE2EDA81FB1}"/>
              </a:ext>
            </a:extLst>
          </p:cNvPr>
          <p:cNvSpPr/>
          <p:nvPr/>
        </p:nvSpPr>
        <p:spPr>
          <a:xfrm>
            <a:off x="685800" y="2240280"/>
            <a:ext cx="205740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HTTP Request</a:t>
            </a:r>
            <a:endParaRPr lang="en-US" sz="150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7FB79497-5FBC-0B3F-2CF3-2EE80C759BE4}"/>
              </a:ext>
            </a:extLst>
          </p:cNvPr>
          <p:cNvSpPr/>
          <p:nvPr/>
        </p:nvSpPr>
        <p:spPr>
          <a:xfrm>
            <a:off x="2834640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5C9E1570-FAE6-7C33-2DB9-DA15C9620597}"/>
              </a:ext>
            </a:extLst>
          </p:cNvPr>
          <p:cNvSpPr/>
          <p:nvPr/>
        </p:nvSpPr>
        <p:spPr>
          <a:xfrm>
            <a:off x="3520440" y="2240280"/>
            <a:ext cx="1600200" cy="822960"/>
          </a:xfrm>
          <a:prstGeom prst="rect">
            <a:avLst/>
          </a:prstGeom>
          <a:solidFill>
            <a:srgbClr val="DDF4F6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接收請求</a:t>
            </a:r>
            <a:endParaRPr lang="en-US" sz="150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850546A4-B5B1-2479-0B1A-E0DCD056106D}"/>
              </a:ext>
            </a:extLst>
          </p:cNvPr>
          <p:cNvSpPr/>
          <p:nvPr/>
        </p:nvSpPr>
        <p:spPr>
          <a:xfrm>
            <a:off x="523036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30A4535A-F7A9-EBA0-3628-82B7A74CA828}"/>
              </a:ext>
            </a:extLst>
          </p:cNvPr>
          <p:cNvSpPr/>
          <p:nvPr/>
        </p:nvSpPr>
        <p:spPr>
          <a:xfrm>
            <a:off x="5943600" y="2240280"/>
            <a:ext cx="1600200" cy="822960"/>
          </a:xfrm>
          <a:prstGeom prst="rect">
            <a:avLst/>
          </a:prstGeom>
          <a:solidFill>
            <a:srgbClr val="FFF3CF"/>
          </a:solidFill>
          <a:ln w="15240">
            <a:solidFill>
              <a:srgbClr val="F29F0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處理規則</a:t>
            </a:r>
            <a:endParaRPr lang="en-US" sz="1500" dirty="0"/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8DB2FBCC-2E56-881A-5221-8FA2C309C80A}"/>
              </a:ext>
            </a:extLst>
          </p:cNvPr>
          <p:cNvSpPr/>
          <p:nvPr/>
        </p:nvSpPr>
        <p:spPr>
          <a:xfrm>
            <a:off x="7662672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AE4C304B-DE93-B66F-4CF6-FBF63402B17D}"/>
              </a:ext>
            </a:extLst>
          </p:cNvPr>
          <p:cNvSpPr/>
          <p:nvPr/>
        </p:nvSpPr>
        <p:spPr>
          <a:xfrm>
            <a:off x="8366760" y="2240280"/>
            <a:ext cx="1600200" cy="822960"/>
          </a:xfrm>
          <a:prstGeom prst="rect">
            <a:avLst/>
          </a:prstGeom>
          <a:solidFill>
            <a:srgbClr val="EDF7EF"/>
          </a:solidFill>
          <a:ln w="15240">
            <a:solidFill>
              <a:srgbClr val="2F8F5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取得資料</a:t>
            </a:r>
            <a:endParaRPr lang="en-US" sz="1500" dirty="0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7A3F3FF8-D6ED-A43E-F9C3-A0605C2366AB}"/>
              </a:ext>
            </a:extLst>
          </p:cNvPr>
          <p:cNvSpPr/>
          <p:nvPr/>
        </p:nvSpPr>
        <p:spPr>
          <a:xfrm>
            <a:off x="1007668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99DACFB6-B027-E07C-C8EF-2371FB5B8847}"/>
              </a:ext>
            </a:extLst>
          </p:cNvPr>
          <p:cNvSpPr/>
          <p:nvPr/>
        </p:nvSpPr>
        <p:spPr>
          <a:xfrm>
            <a:off x="10789920" y="2240280"/>
            <a:ext cx="96012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E2A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回傳結果</a:t>
            </a:r>
            <a:endParaRPr lang="en-US" sz="1500" dirty="0"/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840D3194-AF4F-85E3-EB36-64C27051F0A8}"/>
              </a:ext>
            </a:extLst>
          </p:cNvPr>
          <p:cNvSpPr/>
          <p:nvPr/>
        </p:nvSpPr>
        <p:spPr>
          <a:xfrm>
            <a:off x="1097280" y="4434840"/>
            <a:ext cx="1005840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後端不是只「回傳字串」，而是把請求、邏輯、資料存取組織起來。</a:t>
            </a:r>
            <a:endParaRPr lang="en-US" sz="2400" dirty="0"/>
          </a:p>
        </p:txBody>
      </p:sp>
      <p:sp>
        <p:nvSpPr>
          <p:cNvPr id="14" name="投影片編號版面配置區 13">
            <a:extLst>
              <a:ext uri="{FF2B5EF4-FFF2-40B4-BE49-F238E27FC236}">
                <a16:creationId xmlns:a16="http://schemas.microsoft.com/office/drawing/2014/main" id="{EE0D006B-BF10-CDD3-0328-E3FD477B5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5146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FA709E-0118-C1FF-EFDF-DD91D5FC5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97029"/>
          </a:xfrm>
        </p:spPr>
        <p:txBody>
          <a:bodyPr/>
          <a:lstStyle/>
          <a:p>
            <a:r>
              <a:rPr lang="zh-TW" altLang="en-US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沒有分層的情況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9E5C955-30C9-77C0-9699-79244FBD0A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505" y="3445873"/>
            <a:ext cx="5098983" cy="4494908"/>
          </a:xfrm>
        </p:spPr>
        <p:txBody>
          <a:bodyPr>
            <a:normAutofit/>
          </a:bodyPr>
          <a:lstStyle/>
          <a:p>
            <a:r>
              <a:rPr lang="en-US" altLang="zh-TW" sz="14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@GetMapping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"/price/{id}"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String </a:t>
            </a:r>
            <a:r>
              <a:rPr lang="en-US" altLang="zh-TW" sz="14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getPrice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@PathVariable 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id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if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1000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if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2000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discountPrice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*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0.8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return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</a:t>
            </a:r>
            <a:r>
              <a:rPr lang="zh-TW" altLang="en-US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折扣後價格：</a:t>
            </a:r>
            <a:r>
              <a:rPr lang="en-US" altLang="zh-TW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</a:t>
            </a:r>
            <a:r>
              <a:rPr lang="zh-TW" altLang="en-US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+</a:t>
            </a:r>
            <a:r>
              <a:rPr lang="zh-TW" altLang="en-US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discountPrice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D68C5ED-D4E3-B9CA-3641-E5DFE2271EF8}"/>
              </a:ext>
            </a:extLst>
          </p:cNvPr>
          <p:cNvSpPr txBox="1"/>
          <p:nvPr/>
        </p:nvSpPr>
        <p:spPr>
          <a:xfrm>
            <a:off x="1097280" y="1347537"/>
            <a:ext cx="5493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altLang="zh-TW" sz="1800" dirty="0" err="1">
                <a:solidFill>
                  <a:srgbClr val="5F6B7A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所有責任都塞在一起，初學時常見，但非常難維護</a:t>
            </a:r>
            <a:r>
              <a:rPr lang="en-US" altLang="zh-TW" sz="1800" dirty="0">
                <a:solidFill>
                  <a:srgbClr val="5F6B7A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FC72FAC-FF9F-710F-2D24-6F1A152AAFA9}"/>
              </a:ext>
            </a:extLst>
          </p:cNvPr>
          <p:cNvSpPr txBox="1"/>
          <p:nvPr/>
        </p:nvSpPr>
        <p:spPr>
          <a:xfrm>
            <a:off x="6591092" y="3542957"/>
            <a:ext cx="4911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3035436D-44F2-02FB-FFD3-E4C324AA2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C2EECF24-A585-61B5-79C1-475E2E862E61}"/>
              </a:ext>
            </a:extLst>
          </p:cNvPr>
          <p:cNvSpPr/>
          <p:nvPr/>
        </p:nvSpPr>
        <p:spPr>
          <a:xfrm>
            <a:off x="685800" y="2240280"/>
            <a:ext cx="205740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 Request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81C20A7-79C1-51AC-FEB3-E4381F2FFC19}"/>
              </a:ext>
            </a:extLst>
          </p:cNvPr>
          <p:cNvSpPr/>
          <p:nvPr/>
        </p:nvSpPr>
        <p:spPr>
          <a:xfrm>
            <a:off x="2834640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AFE7B3DC-1792-6F3B-A944-79F526A5E772}"/>
              </a:ext>
            </a:extLst>
          </p:cNvPr>
          <p:cNvSpPr/>
          <p:nvPr/>
        </p:nvSpPr>
        <p:spPr>
          <a:xfrm>
            <a:off x="3520440" y="2240280"/>
            <a:ext cx="1600200" cy="822960"/>
          </a:xfrm>
          <a:prstGeom prst="rect">
            <a:avLst/>
          </a:prstGeom>
          <a:solidFill>
            <a:srgbClr val="DDF4F6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接收請求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83C36158-AD3C-9D9E-1A09-2C06ED12EEF1}"/>
              </a:ext>
            </a:extLst>
          </p:cNvPr>
          <p:cNvSpPr/>
          <p:nvPr/>
        </p:nvSpPr>
        <p:spPr>
          <a:xfrm>
            <a:off x="523036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5A6EEF26-D4CC-1511-84C0-EFB8580D4C1D}"/>
              </a:ext>
            </a:extLst>
          </p:cNvPr>
          <p:cNvSpPr/>
          <p:nvPr/>
        </p:nvSpPr>
        <p:spPr>
          <a:xfrm>
            <a:off x="5943600" y="2240280"/>
            <a:ext cx="1600200" cy="822960"/>
          </a:xfrm>
          <a:prstGeom prst="rect">
            <a:avLst/>
          </a:prstGeom>
          <a:solidFill>
            <a:srgbClr val="FFF3CF"/>
          </a:solidFill>
          <a:ln w="15240">
            <a:solidFill>
              <a:srgbClr val="F29F0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處理規則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0C72457-4470-21E5-1A09-09E9B2B4F9D6}"/>
              </a:ext>
            </a:extLst>
          </p:cNvPr>
          <p:cNvSpPr/>
          <p:nvPr/>
        </p:nvSpPr>
        <p:spPr>
          <a:xfrm>
            <a:off x="7662672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0669E14-16BB-3B26-0025-EA9AC47DC167}"/>
              </a:ext>
            </a:extLst>
          </p:cNvPr>
          <p:cNvSpPr/>
          <p:nvPr/>
        </p:nvSpPr>
        <p:spPr>
          <a:xfrm>
            <a:off x="8366760" y="2240280"/>
            <a:ext cx="1600200" cy="822960"/>
          </a:xfrm>
          <a:prstGeom prst="rect">
            <a:avLst/>
          </a:prstGeom>
          <a:solidFill>
            <a:srgbClr val="EDF7EF"/>
          </a:solidFill>
          <a:ln w="15240">
            <a:solidFill>
              <a:srgbClr val="2F8F5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取得資料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2A0CB22-52B9-6CC3-F1EE-F67395813643}"/>
              </a:ext>
            </a:extLst>
          </p:cNvPr>
          <p:cNvSpPr/>
          <p:nvPr/>
        </p:nvSpPr>
        <p:spPr>
          <a:xfrm>
            <a:off x="1007668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43B6633-E151-D22A-3F5A-321E0019B525}"/>
              </a:ext>
            </a:extLst>
          </p:cNvPr>
          <p:cNvSpPr/>
          <p:nvPr/>
        </p:nvSpPr>
        <p:spPr>
          <a:xfrm>
            <a:off x="10789920" y="2240280"/>
            <a:ext cx="96012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E2A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回傳結果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EBB33B9-E754-EA49-3945-C6C9EB607130}"/>
              </a:ext>
            </a:extLst>
          </p:cNvPr>
          <p:cNvSpPr/>
          <p:nvPr/>
        </p:nvSpPr>
        <p:spPr>
          <a:xfrm>
            <a:off x="3241964" y="1716869"/>
            <a:ext cx="4605251" cy="1712122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2512274-2B4E-5DF2-0AAD-CF3B983508F9}"/>
              </a:ext>
            </a:extLst>
          </p:cNvPr>
          <p:cNvSpPr txBox="1"/>
          <p:nvPr/>
        </p:nvSpPr>
        <p:spPr>
          <a:xfrm>
            <a:off x="4621877" y="1931144"/>
            <a:ext cx="3225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合併在一起的話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A74666A-F888-2F0F-F97B-A494E67F203D}"/>
              </a:ext>
            </a:extLst>
          </p:cNvPr>
          <p:cNvSpPr/>
          <p:nvPr/>
        </p:nvSpPr>
        <p:spPr>
          <a:xfrm>
            <a:off x="3962480" y="4104999"/>
            <a:ext cx="3196309" cy="2103296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7031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7135AE-6F7A-854A-0081-5F3753BAF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為什麼要學「架構」？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3CF8BF-7670-EC52-668B-CDF4FF31B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zh-TW" altLang="en-US" b="1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目的</a:t>
            </a:r>
            <a:r>
              <a:rPr lang="en-US" altLang="zh-TW" b="1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endParaRPr lang="zh-TW" altLang="en-US" b="1" i="0" dirty="0">
              <a:solidFill>
                <a:schemeClr val="tx1"/>
              </a:solidFill>
              <a:effectLst/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zh-TW" altLang="en-US" u="none" strike="noStrike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降低程式碼耦合度、與擴展性</a:t>
            </a:r>
            <a:r>
              <a: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i="0" dirty="0">
              <a:solidFill>
                <a:schemeClr val="tx1"/>
              </a:solidFill>
              <a:effectLst/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00100" lvl="1" indent="-342900">
              <a:buFont typeface="+mj-ea"/>
              <a:buAutoNum type="arabicPeriod"/>
            </a:pPr>
            <a:r>
              <a:rPr lang="zh-TW" altLang="en-US" u="none" strike="noStrike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提高系統可維護性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marL="800100" lvl="1" indent="-342900">
              <a:buFont typeface="+mj-ea"/>
              <a:buAutoNum type="arabicPeriod"/>
            </a:pP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提高擴展性。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解決方案： 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三層式架構。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核心目標： 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各司其職、分工合作。</a:t>
            </a:r>
          </a:p>
          <a:p>
            <a:pPr marL="457200" indent="-457200">
              <a:buFont typeface="+mj-lt"/>
              <a:buAutoNum type="arabicPeriod"/>
            </a:pPr>
            <a:endParaRPr lang="zh-TW" altLang="en-US" b="1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3E710D-042D-8B81-38F2-A792FE18F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902B954-EF29-D3CE-CE13-1F6EAFA5A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128419"/>
            <a:ext cx="12192000" cy="274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ED675DE1-1759-954F-3DDD-9C182AC69C31}"/>
              </a:ext>
            </a:extLst>
          </p:cNvPr>
          <p:cNvSpPr txBox="1"/>
          <p:nvPr/>
        </p:nvSpPr>
        <p:spPr>
          <a:xfrm>
            <a:off x="8061740" y="5302527"/>
            <a:ext cx="16242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Repository /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80807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624222-F1C7-725F-DEA1-DD67E0C45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Controller </a:t>
            </a:r>
            <a:r>
              <a:rPr lang="zh-TW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層 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0B479-AC1F-F33D-41BE-82C859C73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層負責：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接收前端送來的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 Request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取得前端傳來的參數或資料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層處理真正的業務邏輯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將處理結果包成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Response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回傳給前端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626D09-1F7C-06D6-A6F6-B28E7F2D6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45058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EB209-7C85-EB27-4064-4887C03B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1981E8-4993-45F8-E9DA-6B1FFA4C9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層負責：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處理商業邏輯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檢查資料是否符合規則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決定資料要怎麼被處理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DAO / Repository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取得或儲存資料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將處理結果回傳給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D553C7F-22B1-B602-BAD5-6DE25D3C6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7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111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7609EE-125F-4BB2-4C37-636FD86C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Dao / </a:t>
            </a:r>
            <a:r>
              <a:rPr lang="en-US" altLang="zh-TW" b="1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Reposity</a:t>
            </a:r>
            <a:r>
              <a:rPr lang="zh-TW" altLang="en-US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endParaRPr lang="zh-TW" alt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D9693A-B5BC-2E87-89E6-F66738A8D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Dao /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Reposity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層負責：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查詢資料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新增資料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修改資料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刪除資料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將資料庫結果回傳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26534E-FD86-E970-596E-1AAE78D8D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28834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D08702-07BB-1535-F270-ED505532E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48461"/>
            <a:ext cx="10058400" cy="632771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用前端概念類比後端三層</a:t>
            </a:r>
          </a:p>
        </p:txBody>
      </p:sp>
      <p:graphicFrame>
        <p:nvGraphicFramePr>
          <p:cNvPr id="6" name="內容版面配置區 5">
            <a:extLst>
              <a:ext uri="{FF2B5EF4-FFF2-40B4-BE49-F238E27FC236}">
                <a16:creationId xmlns:a16="http://schemas.microsoft.com/office/drawing/2014/main" id="{6BD89D34-3BB6-BCD1-0E72-976FB26B73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7216655"/>
              </p:ext>
            </p:extLst>
          </p:nvPr>
        </p:nvGraphicFramePr>
        <p:xfrm>
          <a:off x="1096963" y="1846263"/>
          <a:ext cx="10058397" cy="3327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799">
                  <a:extLst>
                    <a:ext uri="{9D8B030D-6E8A-4147-A177-3AD203B41FA5}">
                      <a16:colId xmlns:a16="http://schemas.microsoft.com/office/drawing/2014/main" val="1949212075"/>
                    </a:ext>
                  </a:extLst>
                </a:gridCol>
                <a:gridCol w="3352799">
                  <a:extLst>
                    <a:ext uri="{9D8B030D-6E8A-4147-A177-3AD203B41FA5}">
                      <a16:colId xmlns:a16="http://schemas.microsoft.com/office/drawing/2014/main" val="1294761578"/>
                    </a:ext>
                  </a:extLst>
                </a:gridCol>
                <a:gridCol w="3352799">
                  <a:extLst>
                    <a:ext uri="{9D8B030D-6E8A-4147-A177-3AD203B41FA5}">
                      <a16:colId xmlns:a16="http://schemas.microsoft.com/office/drawing/2014/main" val="1560251759"/>
                    </a:ext>
                  </a:extLst>
                </a:gridCol>
              </a:tblGrid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後端階級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負責工作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前端類比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640751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Controller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接收網址請求、決定入口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Router / Page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入口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969707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Service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商業邏輯、計算、判斷規則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資料整理、條件判斷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802760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Repository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取得或儲存資料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API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function / 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資料取得函式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2083102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Database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真正儲存資料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後端資料來源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024288"/>
                  </a:ext>
                </a:extLst>
              </a:tr>
            </a:tbl>
          </a:graphicData>
        </a:graphic>
      </p:graphicFrame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996C01-BA18-FDCF-B397-5BEE0A5FE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9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850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536332-6E4B-FA21-37AB-53FD31277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生活化比喻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——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餐廳經營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4EEF221-C4A0-8350-B2C6-E4038D97F10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953" y="3525276"/>
            <a:ext cx="1866129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hef - Free food icons">
            <a:extLst>
              <a:ext uri="{FF2B5EF4-FFF2-40B4-BE49-F238E27FC236}">
                <a16:creationId xmlns:a16="http://schemas.microsoft.com/office/drawing/2014/main" id="{D49DB06F-679C-BAB6-7055-3EE9E4F3F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207" y="3525276"/>
            <a:ext cx="1890546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Freezer - Free technology icons">
            <a:extLst>
              <a:ext uri="{FF2B5EF4-FFF2-40B4-BE49-F238E27FC236}">
                <a16:creationId xmlns:a16="http://schemas.microsoft.com/office/drawing/2014/main" id="{9F83CED3-54E9-F5FC-E434-4DF909010A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1878" y="3525276"/>
            <a:ext cx="1890546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D24FEA9A-DD91-651F-926F-4E644AEA31A7}"/>
              </a:ext>
            </a:extLst>
          </p:cNvPr>
          <p:cNvSpPr txBox="1"/>
          <p:nvPr/>
        </p:nvSpPr>
        <p:spPr>
          <a:xfrm>
            <a:off x="924953" y="2135421"/>
            <a:ext cx="2236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(</a:t>
            </a:r>
            <a:r>
              <a:rPr lang="zh-TW" altLang="en-US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服務生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2BF4B2C-E99F-A1D9-0BF2-E90E37F4E111}"/>
              </a:ext>
            </a:extLst>
          </p:cNvPr>
          <p:cNvSpPr txBox="1"/>
          <p:nvPr/>
        </p:nvSpPr>
        <p:spPr>
          <a:xfrm>
            <a:off x="5298489" y="2206911"/>
            <a:ext cx="1507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(</a:t>
            </a:r>
            <a:r>
              <a:rPr lang="zh-TW" altLang="en-US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主廚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14EC84E-D2B2-CF19-01E9-9E332C714B5B}"/>
              </a:ext>
            </a:extLst>
          </p:cNvPr>
          <p:cNvSpPr txBox="1"/>
          <p:nvPr/>
        </p:nvSpPr>
        <p:spPr>
          <a:xfrm>
            <a:off x="9035551" y="2171708"/>
            <a:ext cx="2743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(</a:t>
            </a:r>
            <a:r>
              <a:rPr lang="zh-TW" altLang="en-US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倉庫管理員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D0EE6D7-D67A-50A5-CC52-3E408347A307}"/>
              </a:ext>
            </a:extLst>
          </p:cNvPr>
          <p:cNvSpPr txBox="1"/>
          <p:nvPr/>
        </p:nvSpPr>
        <p:spPr>
          <a:xfrm>
            <a:off x="924953" y="2597128"/>
            <a:ext cx="257230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只負責「面對客人」。</a:t>
            </a:r>
            <a:endParaRPr lang="en-US" altLang="zh-TW" sz="1400" b="0" i="0" dirty="0"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接菜單、送菜。他</a:t>
            </a:r>
            <a:r>
              <a:rPr lang="zh-TW" altLang="en-US" sz="14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不進廚房</a:t>
            </a:r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，他只負責把需求傳進去。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DDAE6D9D-90B7-AC93-90A9-B664DA0E3828}"/>
              </a:ext>
            </a:extLst>
          </p:cNvPr>
          <p:cNvSpPr txBox="1"/>
          <p:nvPr/>
        </p:nvSpPr>
        <p:spPr>
          <a:xfrm>
            <a:off x="5030286" y="2579857"/>
            <a:ext cx="25723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只負責「處理食物」。</a:t>
            </a:r>
            <a:endParaRPr lang="en-US" altLang="zh-TW" sz="1400" b="0" i="0" dirty="0"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他不管客人是誰，他只</a:t>
            </a:r>
            <a:r>
              <a:rPr lang="zh-TW" altLang="en-US" sz="14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負責根據菜單把料理做好</a:t>
            </a:r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（邏輯處理）。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3A7C13F-196B-2610-986E-8307CD4D279E}"/>
              </a:ext>
            </a:extLst>
          </p:cNvPr>
          <p:cNvSpPr txBox="1"/>
          <p:nvPr/>
        </p:nvSpPr>
        <p:spPr>
          <a:xfrm>
            <a:off x="9035551" y="2562615"/>
            <a:ext cx="248022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只負責「拿食材」。</a:t>
            </a:r>
            <a:endParaRPr lang="en-US" altLang="zh-TW" sz="1400" b="0" i="0" dirty="0"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主廚說要牛肉，他</a:t>
            </a:r>
            <a:r>
              <a:rPr lang="zh-TW" altLang="en-US" sz="14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就去冰箱拿牛肉</a:t>
            </a:r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。他不管這牛肉是要做排餐還是快炒。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31B0A21C-F3D0-2625-82B9-47BB2EBE059E}"/>
              </a:ext>
            </a:extLst>
          </p:cNvPr>
          <p:cNvCxnSpPr>
            <a:cxnSpLocks/>
          </p:cNvCxnSpPr>
          <p:nvPr/>
        </p:nvCxnSpPr>
        <p:spPr>
          <a:xfrm>
            <a:off x="7483876" y="4470549"/>
            <a:ext cx="16512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C9BA17A7-361C-5DB5-84EA-E9D3E94AEFEA}"/>
              </a:ext>
            </a:extLst>
          </p:cNvPr>
          <p:cNvCxnSpPr>
            <a:cxnSpLocks/>
          </p:cNvCxnSpPr>
          <p:nvPr/>
        </p:nvCxnSpPr>
        <p:spPr>
          <a:xfrm>
            <a:off x="3099772" y="4472028"/>
            <a:ext cx="16512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E5B2760-CDA5-AAA2-FD89-6E09B54176BE}"/>
              </a:ext>
            </a:extLst>
          </p:cNvPr>
          <p:cNvSpPr txBox="1"/>
          <p:nvPr/>
        </p:nvSpPr>
        <p:spPr>
          <a:xfrm>
            <a:off x="3180000" y="5699649"/>
            <a:ext cx="6123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職權分離：服務生不該煮菜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主廚不該跑去資料庫翻冰箱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27FA506-6097-5FEB-43DB-964DB9E3C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6327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3CB226-F8A7-B99A-A22C-229AD3049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組件標籤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E17C98-9B92-6326-EDD2-4F93BFBC7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 (Controller)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它是程式的門口。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Mapping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對應網址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@Service (Service)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它是程式的大腦。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Business Logic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業務邏輯，例如：打折、過濾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@Repository (Repository)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它是程式的手腳。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Database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資料庫，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CRUD)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CC1B8C-1B2D-EFDE-B1AE-51C110324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7672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B8C27C-30BF-87C7-A1FB-EBD527833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21336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 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後端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API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的入口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8FABECC-73D7-D61F-DEC7-A7E32D95BEBE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400" dirty="0"/>
              <a:t>接收 </a:t>
            </a:r>
            <a:r>
              <a:rPr lang="en-US" altLang="zh-TW" sz="1400" dirty="0"/>
              <a:t>HTTP Request</a:t>
            </a:r>
            <a:r>
              <a:rPr lang="zh-TW" altLang="en-US" sz="1400" dirty="0"/>
              <a:t>，取得參數，並把工作交給 </a:t>
            </a:r>
            <a:r>
              <a:rPr lang="en-US" altLang="zh-TW" sz="1400" dirty="0"/>
              <a:t>Service</a:t>
            </a:r>
            <a:endParaRPr lang="en-US" sz="13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89FF4ED-FE1B-CBA3-EF4D-E7ADC2EDE043}"/>
              </a:ext>
            </a:extLst>
          </p:cNvPr>
          <p:cNvSpPr txBox="1"/>
          <p:nvPr/>
        </p:nvSpPr>
        <p:spPr>
          <a:xfrm>
            <a:off x="6443241" y="2329276"/>
            <a:ext cx="542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180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solidFill>
                  <a:srgbClr val="FF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</a:t>
            </a:r>
          </a:p>
          <a:p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class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GreetController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@GetMapping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8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"/hello"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8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String </a:t>
            </a:r>
            <a:r>
              <a:rPr lang="en-US" altLang="zh-TW" sz="18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sayHello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</a:t>
            </a:r>
            <a:r>
              <a:rPr lang="en-US" altLang="zh-TW" sz="18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return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"Hello Spring Boot"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112A25C-8C82-8996-9623-CB6CEA3A4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12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2B4C3862-742F-9E13-B6C4-3709C2A21ABF}"/>
              </a:ext>
            </a:extLst>
          </p:cNvPr>
          <p:cNvSpPr/>
          <p:nvPr/>
        </p:nvSpPr>
        <p:spPr>
          <a:xfrm>
            <a:off x="1127761" y="2728721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該做的事</a:t>
            </a:r>
            <a:r>
              <a:rPr lang="zh-TW" altLang="en-US" sz="2000" dirty="0"/>
              <a:t>✔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前端送來的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Request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 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URL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Query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Body 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裡的參數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呼叫對應的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將結果回傳結果給前端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683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B3449FD-9EA7-7042-883B-CD850104E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53E77BE0-8158-306B-9076-725C9F8F0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21336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商業邏輯的大腦</a:t>
            </a:r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9C723619-4064-730F-3856-D1FDA189EAE0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1300" dirty="0" err="1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打折、判斷、計算、檢查資料，通常放在</a:t>
            </a:r>
            <a:r>
              <a:rPr lang="en-US" altLang="zh-TW" sz="13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 Service。</a:t>
            </a:r>
            <a:endParaRPr lang="en-US" altLang="zh-TW" sz="13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DCC6AF6-F8DB-149B-3514-7E9A77CD0B02}"/>
              </a:ext>
            </a:extLst>
          </p:cNvPr>
          <p:cNvSpPr txBox="1"/>
          <p:nvPr/>
        </p:nvSpPr>
        <p:spPr>
          <a:xfrm>
            <a:off x="6107575" y="2360368"/>
            <a:ext cx="9028254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6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160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600" dirty="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@Service</a:t>
            </a:r>
          </a:p>
          <a:p>
            <a:r>
              <a:rPr lang="en-US" altLang="zh-TW" sz="160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public</a:t>
            </a:r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class</a:t>
            </a:r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ProductService</a:t>
            </a:r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{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endParaRPr lang="zh-TW" altLang="en-US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@Autowired</a:t>
            </a: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private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ProductRepository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productRepository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;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endParaRPr lang="zh-TW" altLang="en-US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public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int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getDiscountPrice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(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int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id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)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{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    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int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originalPrice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=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</a:p>
          <a:p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			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productRepository</a:t>
            </a:r>
            <a:r>
              <a:rPr lang="en-US" altLang="zh-TW" sz="1600" b="1" dirty="0" err="1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.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findPriceById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(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id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);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    </a:t>
            </a:r>
            <a:r>
              <a:rPr lang="en-US" altLang="zh-TW" sz="1600" b="1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return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(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int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)(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originalPrice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*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>
                <a:solidFill>
                  <a:srgbClr val="FF8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0.8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);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zh-TW" altLang="en-US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}</a:t>
            </a:r>
            <a:endParaRPr lang="zh-TW" altLang="en-US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}</a:t>
            </a:r>
            <a:endParaRPr lang="zh-TW" altLang="en-US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2F4B878B-A95B-A3C9-325C-9429375A2BED}"/>
              </a:ext>
            </a:extLst>
          </p:cNvPr>
          <p:cNvSpPr txBox="1">
            <a:spLocks/>
          </p:cNvSpPr>
          <p:nvPr/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pPr/>
              <a:t>13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D3F9B04B-E88F-876A-A7FB-028257905C8A}"/>
              </a:ext>
            </a:extLst>
          </p:cNvPr>
          <p:cNvSpPr/>
          <p:nvPr/>
        </p:nvSpPr>
        <p:spPr>
          <a:xfrm>
            <a:off x="1085707" y="2975256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該做的事</a:t>
            </a:r>
            <a:r>
              <a:rPr lang="zh-TW" altLang="en-US" sz="2000" dirty="0"/>
              <a:t>✔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處理商業邏輯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檢查資料是否符合規則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進行計算或條件判斷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 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 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取得資料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將處理後的結果回傳給 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0333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58AE70-8662-F959-65F0-345E4D316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：資料存取的窗口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00207A-0799-F833-7016-3570D06A6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8AB173-3F0F-7B30-F81E-BCCBB5CDE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FDC2BE4B-6F31-E673-C1E5-886C9573B67B}"/>
              </a:ext>
            </a:extLst>
          </p:cNvPr>
          <p:cNvSpPr/>
          <p:nvPr/>
        </p:nvSpPr>
        <p:spPr>
          <a:xfrm>
            <a:off x="1127761" y="2728721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該做的事</a:t>
            </a:r>
            <a:r>
              <a:rPr lang="zh-TW" altLang="en-US" sz="2000" dirty="0"/>
              <a:t>✔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得資料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新增、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修改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、刪除資料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資料來源封裝起來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將查詢結果回傳給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FDFFD2A-5763-599E-EEC3-19B173F486C8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3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查詢、儲存、修改、刪除資料，通常放在 </a:t>
            </a:r>
            <a:r>
              <a:rPr lang="en-US" altLang="zh-TW" sz="13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Repository/DAO</a:t>
            </a:r>
            <a:r>
              <a:rPr lang="zh-TW" altLang="en-US" sz="13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。</a:t>
            </a:r>
            <a:endParaRPr lang="en-US" altLang="zh-TW" sz="13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1A5FA0C-E404-B8F9-D2C5-EF4D41C78432}"/>
              </a:ext>
            </a:extLst>
          </p:cNvPr>
          <p:cNvSpPr txBox="1"/>
          <p:nvPr/>
        </p:nvSpPr>
        <p:spPr>
          <a:xfrm>
            <a:off x="6443241" y="2329276"/>
            <a:ext cx="542081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180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solidFill>
                  <a:srgbClr val="FF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</a:t>
            </a:r>
          </a:p>
          <a:p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class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/>
              <a:t>ProductRepository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8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int </a:t>
            </a:r>
            <a:r>
              <a:rPr lang="en-US" altLang="zh-TW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findPriceById</a:t>
            </a:r>
            <a:r>
              <a:rPr lang="en-US" altLang="zh-TW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(int id)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	 </a:t>
            </a:r>
            <a:r>
              <a:rPr lang="en-US" altLang="zh-TW" dirty="0"/>
              <a:t>if (id == 1) {</a:t>
            </a:r>
            <a:br>
              <a:rPr lang="en-US" altLang="zh-TW" dirty="0"/>
            </a:br>
            <a:r>
              <a:rPr lang="en-US" altLang="zh-TW" dirty="0"/>
              <a:t>return 1000;</a:t>
            </a:r>
            <a:br>
              <a:rPr lang="en-US" altLang="zh-TW" dirty="0"/>
            </a:br>
            <a:r>
              <a:rPr lang="en-US" altLang="zh-TW" dirty="0"/>
              <a:t>}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if (id == 2) {</a:t>
            </a:r>
            <a:br>
              <a:rPr lang="en-US" altLang="zh-TW" dirty="0"/>
            </a:br>
            <a:r>
              <a:rPr lang="en-US" altLang="zh-TW" dirty="0"/>
              <a:t>return 2000;</a:t>
            </a:r>
            <a:br>
              <a:rPr lang="en-US" altLang="zh-TW" dirty="0"/>
            </a:br>
            <a:r>
              <a:rPr lang="en-US" altLang="zh-TW" dirty="0"/>
              <a:t>}</a:t>
            </a: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</a:t>
            </a:r>
            <a:r>
              <a:rPr lang="en-US" altLang="zh-TW" sz="18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return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633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182EBD-7490-EF5C-09FF-B75126440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範例程式拆解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一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執行結果是什麼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b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 </a:t>
            </a:r>
            <a:r>
              <a:rPr lang="zh-TW" altLang="en-US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r>
              <a:rPr lang="zh-TW" altLang="en-US" sz="2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：設定網址。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DD6A1-3682-5B39-73DD-C826C29E3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GreetController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@Autowired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private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叫主廚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@GetMapping(“/hello")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public String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sayHello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greetService.makeGreeting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回傳結果</a:t>
            </a: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258E98-BA89-A0B5-87FE-2799D5298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849E4CB-4E15-4357-9CDC-19ECC8458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955188"/>
            <a:ext cx="5907578" cy="1328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2488499-8149-5445-120D-C44745BAD58C}"/>
              </a:ext>
            </a:extLst>
          </p:cNvPr>
          <p:cNvSpPr/>
          <p:nvPr/>
        </p:nvSpPr>
        <p:spPr>
          <a:xfrm>
            <a:off x="7331825" y="3075709"/>
            <a:ext cx="2344190" cy="10474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0271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182EBD-7490-EF5C-09FF-B75126440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範例程式拆解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二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4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br>
              <a:rPr lang="en-US" altLang="zh-TW" sz="4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r>
              <a:rPr lang="zh-TW" altLang="en-US" sz="2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：把名字加工，加上問候語。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DD6A1-3682-5B39-73DD-C826C29E3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@Service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@Autowired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private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叫倉庫管理員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String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makeGreeting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String name =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nameRepo.getNameFromDB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();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你好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" + name +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！歡迎光臨。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處理邏輯</a:t>
            </a: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155C68-709E-B746-6A99-513073B36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74537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182EBD-7490-EF5C-09FF-B75126440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範例程式拆解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1" i="0" dirty="0">
                <a:solidFill>
                  <a:srgbClr val="D4D4D4"/>
                </a:solidFill>
                <a:effectLst/>
                <a:latin typeface="Inter"/>
              </a:rPr>
              <a:t> </a:t>
            </a:r>
            <a:br>
              <a:rPr lang="en-US" altLang="zh-TW" b="1" i="0" dirty="0">
                <a:solidFill>
                  <a:srgbClr val="D4D4D4"/>
                </a:solidFill>
                <a:effectLst/>
                <a:latin typeface="Inter"/>
              </a:rPr>
            </a:br>
            <a:r>
              <a:rPr lang="en-US" altLang="zh-TW" sz="24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 </a:t>
            </a:r>
            <a:r>
              <a:rPr lang="zh-TW" altLang="en-US" sz="24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r>
              <a:rPr lang="zh-TW" altLang="en-US" sz="24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：假設資料庫裡有一個名字。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DD6A1-3682-5B39-73DD-C826C29E3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z="20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用一個簡單的「問候系統」展示資料怎麼傳遞。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@Repository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public String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getNameFromDB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王小明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模擬從資料庫拿資料</a:t>
            </a: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457C7BC-854A-14E7-117B-B5AD436F1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898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A1D2D7-EB39-FC3C-57FF-1C8EF7932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課堂習題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- 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實作「商品折扣計算器」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B37258-577D-251D-62C5-96EF89021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題目背景：</a:t>
            </a:r>
            <a:b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我們要寫一個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API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，當輸入商品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時，系統會回傳該商品的打折後價格。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已經寫好，會根據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給你原始價格。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學生實作重點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負責計算打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8 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折後的價格。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學生實作重點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負責接收網址 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/price/{id}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algn="l"/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學生填空作業：</a:t>
            </a:r>
          </a:p>
          <a:p>
            <a:pPr algn="l"/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請學生在紙上或編輯器中完成 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...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的部分：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C6CB6A-49BF-C2AF-5D60-A7A61D71A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60190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97AA06-2ACE-6F04-9873-80AAC6CE0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課堂練習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r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：請判斷登入功能該怎麼分層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37A69A-E968-D817-3C63-B7220EC6B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02336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前端呼叫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POST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/v1/login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“account”: “Cathay”,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"password": “caca123"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914934-45D2-1227-0152-43DDE40F2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19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55EEBAC-D1FB-80E3-108C-056CD6A9E4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534012"/>
              </p:ext>
            </p:extLst>
          </p:nvPr>
        </p:nvGraphicFramePr>
        <p:xfrm>
          <a:off x="4680977" y="2361015"/>
          <a:ext cx="6876022" cy="2759626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3438011">
                  <a:extLst>
                    <a:ext uri="{9D8B030D-6E8A-4147-A177-3AD203B41FA5}">
                      <a16:colId xmlns:a16="http://schemas.microsoft.com/office/drawing/2014/main" val="666982291"/>
                    </a:ext>
                  </a:extLst>
                </a:gridCol>
                <a:gridCol w="3438011">
                  <a:extLst>
                    <a:ext uri="{9D8B030D-6E8A-4147-A177-3AD203B41FA5}">
                      <a16:colId xmlns:a16="http://schemas.microsoft.com/office/drawing/2014/main" val="2565477661"/>
                    </a:ext>
                  </a:extLst>
                </a:gridCol>
              </a:tblGrid>
              <a:tr h="32891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工作內容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應該放哪一層？</a:t>
                      </a:r>
                      <a:endParaRPr lang="en-US" altLang="zh-TW" sz="1200" dirty="0"/>
                    </a:p>
                    <a:p>
                      <a:r>
                        <a:rPr lang="en-US" altLang="zh-TW" sz="1200" dirty="0"/>
                        <a:t>(Controller</a:t>
                      </a:r>
                      <a:r>
                        <a:rPr lang="zh-TW" altLang="en-US" sz="1200" dirty="0"/>
                        <a:t>、</a:t>
                      </a:r>
                      <a:r>
                        <a:rPr lang="en-US" altLang="zh-TW" sz="1200" dirty="0"/>
                        <a:t>Service</a:t>
                      </a:r>
                      <a:r>
                        <a:rPr lang="zh-TW" altLang="en-US" sz="1200" dirty="0"/>
                        <a:t>、</a:t>
                      </a:r>
                      <a:r>
                        <a:rPr lang="en-US" altLang="zh-TW" sz="1200" dirty="0"/>
                        <a:t>Repository/DAO)</a:t>
                      </a:r>
                      <a:endParaRPr lang="zh-TW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2372759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1. </a:t>
                      </a:r>
                      <a:r>
                        <a:rPr lang="zh-TW" altLang="en-US" sz="1200" dirty="0"/>
                        <a:t>接收 </a:t>
                      </a:r>
                      <a:r>
                        <a:rPr lang="en-US" altLang="zh-TW" sz="1200" dirty="0"/>
                        <a:t>/</a:t>
                      </a:r>
                      <a:r>
                        <a:rPr lang="en-US" sz="1200" dirty="0"/>
                        <a:t>v1/login </a:t>
                      </a:r>
                      <a:r>
                        <a:rPr lang="zh-TW" altLang="en-US" sz="1200" dirty="0"/>
                        <a:t>請求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2360663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2. </a:t>
                      </a:r>
                      <a:r>
                        <a:rPr lang="zh-TW" altLang="en-US" sz="1200" dirty="0"/>
                        <a:t>取得 </a:t>
                      </a:r>
                      <a:r>
                        <a:rPr lang="en-US" sz="1200" dirty="0"/>
                        <a:t>request body </a:t>
                      </a:r>
                      <a:r>
                        <a:rPr lang="zh-TW" altLang="en-US" sz="1200" dirty="0"/>
                        <a:t>裡的 </a:t>
                      </a:r>
                      <a:r>
                        <a:rPr lang="en-US" sz="1200" dirty="0" err="1"/>
                        <a:t>account、password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6226415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3. </a:t>
                      </a:r>
                      <a:r>
                        <a:rPr lang="zh-TW" altLang="en-US" sz="1200" dirty="0"/>
                        <a:t>檢查 </a:t>
                      </a:r>
                      <a:r>
                        <a:rPr lang="en-US" sz="1200" dirty="0" err="1"/>
                        <a:t>account、password</a:t>
                      </a:r>
                      <a:r>
                        <a:rPr lang="en-US" sz="1200" dirty="0"/>
                        <a:t> </a:t>
                      </a:r>
                      <a:r>
                        <a:rPr lang="zh-TW" altLang="en-US" sz="1200" dirty="0"/>
                        <a:t>是否為空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4532228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4. </a:t>
                      </a:r>
                      <a:r>
                        <a:rPr lang="zh-TW" altLang="en-US" sz="1200" dirty="0"/>
                        <a:t>根據 </a:t>
                      </a:r>
                      <a:r>
                        <a:rPr lang="en-US" sz="1200" dirty="0"/>
                        <a:t>account </a:t>
                      </a:r>
                      <a:r>
                        <a:rPr lang="zh-TW" altLang="en-US" sz="1200" dirty="0"/>
                        <a:t>查詢使用者資料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Repository/DAO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4909439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5. </a:t>
                      </a:r>
                      <a:r>
                        <a:rPr lang="zh-TW" altLang="en-US" sz="1200" dirty="0"/>
                        <a:t>比對密碼是否正確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0781905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6. </a:t>
                      </a:r>
                      <a:r>
                        <a:rPr lang="zh-TW" altLang="en-US" sz="1200" dirty="0"/>
                        <a:t>決定登入成功或失敗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7334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7. </a:t>
                      </a:r>
                      <a:r>
                        <a:rPr lang="zh-TW" altLang="en-US" sz="1200" dirty="0"/>
                        <a:t>回傳登入結果給前端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46550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5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DDF9A1-2EF0-E3D0-B4C6-EAD615D84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課堂練習</a:t>
            </a:r>
            <a:r>
              <a:rPr lang="en-US" altLang="zh-TW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：購物車結帳功能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9D5195A-99BB-307C-3614-56CB75BFF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z="1000" smtClean="0">
                <a:latin typeface="標楷體" panose="03000509000000000000" pitchFamily="65" charset="-120"/>
                <a:ea typeface="標楷體" panose="03000509000000000000" pitchFamily="65" charset="-120"/>
              </a:rPr>
              <a:t>20</a:t>
            </a:fld>
            <a:endParaRPr lang="zh-TW" altLang="en-US" sz="100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5EE3A74E-2D84-0256-D9AE-7AFE7E8484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前端呼叫：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</a:t>
            </a:r>
          </a:p>
          <a:p>
            <a:pPr marL="201168" lvl="1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POST /v1/cart/checkout</a:t>
            </a:r>
          </a:p>
          <a:p>
            <a:pPr marL="201168" lvl="1" indent="0">
              <a:buNone/>
            </a:pP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Request Body :</a:t>
            </a:r>
          </a:p>
          <a:p>
            <a:pPr marL="201168" lvl="1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</a:p>
          <a:p>
            <a:pPr marL="201168" lvl="1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"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userId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": 1,</a:t>
            </a:r>
          </a:p>
          <a:p>
            <a:pPr marL="201168" lvl="1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"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cartId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": 1001</a:t>
            </a:r>
          </a:p>
          <a:p>
            <a:pPr marL="201168" lvl="1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7CA4BA9-34B0-8D8C-8CCA-4D30D47E4C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6611012"/>
              </p:ext>
            </p:extLst>
          </p:nvPr>
        </p:nvGraphicFramePr>
        <p:xfrm>
          <a:off x="4571999" y="1845734"/>
          <a:ext cx="7179732" cy="4165598"/>
        </p:xfrm>
        <a:graphic>
          <a:graphicData uri="http://schemas.openxmlformats.org/drawingml/2006/table">
            <a:tbl>
              <a:tblPr/>
              <a:tblGrid>
                <a:gridCol w="2393244">
                  <a:extLst>
                    <a:ext uri="{9D8B030D-6E8A-4147-A177-3AD203B41FA5}">
                      <a16:colId xmlns:a16="http://schemas.microsoft.com/office/drawing/2014/main" val="2348515646"/>
                    </a:ext>
                  </a:extLst>
                </a:gridCol>
                <a:gridCol w="2393244">
                  <a:extLst>
                    <a:ext uri="{9D8B030D-6E8A-4147-A177-3AD203B41FA5}">
                      <a16:colId xmlns:a16="http://schemas.microsoft.com/office/drawing/2014/main" val="3765625656"/>
                    </a:ext>
                  </a:extLst>
                </a:gridCol>
                <a:gridCol w="2393244">
                  <a:extLst>
                    <a:ext uri="{9D8B030D-6E8A-4147-A177-3AD203B41FA5}">
                      <a16:colId xmlns:a16="http://schemas.microsoft.com/office/drawing/2014/main" val="827445611"/>
                    </a:ext>
                  </a:extLst>
                </a:gridCol>
              </a:tblGrid>
              <a:tr h="53405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程式行為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是否適合放在 </a:t>
                      </a:r>
                      <a:r>
                        <a:rPr lang="en-US" sz="1200" dirty="0"/>
                        <a:t>Controller？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應該放哪一層？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2453713"/>
                  </a:ext>
                </a:extLst>
              </a:tr>
              <a:tr h="53405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接收 </a:t>
                      </a:r>
                      <a:r>
                        <a:rPr lang="en-US" altLang="zh-TW" sz="1200" dirty="0"/>
                        <a:t>/</a:t>
                      </a:r>
                      <a:r>
                        <a:rPr lang="en-US" sz="1200" dirty="0"/>
                        <a:t>v1/cart/checkout API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>
                          <a:solidFill>
                            <a:schemeClr val="bg1"/>
                          </a:solidFill>
                        </a:rPr>
                        <a:t>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2686796"/>
                  </a:ext>
                </a:extLst>
              </a:tr>
              <a:tr h="53405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取得前端傳來的 </a:t>
                      </a:r>
                      <a:r>
                        <a:rPr lang="en-US" sz="1200" dirty="0" err="1"/>
                        <a:t>userId、cartId</a:t>
                      </a:r>
                      <a:endParaRPr lang="en-US" sz="1200" dirty="0"/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>
                          <a:solidFill>
                            <a:schemeClr val="bg1"/>
                          </a:solidFill>
                        </a:rPr>
                        <a:t>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9468038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查詢購物車內容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DAO / Repository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7263749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判斷購物車是否為空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103702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計算商品總金額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8404400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判斷庫存是否足夠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8701504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更新商品庫存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DAO / Repository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2244004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建立訂單資料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763622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儲存訂單到資料庫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DAO / Repository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1645664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回傳結帳成功或失敗結果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9889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126744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回顧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回顧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回顧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3426</TotalTime>
  <Words>1828</Words>
  <Application>Microsoft Office PowerPoint</Application>
  <PresentationFormat>寬螢幕</PresentationFormat>
  <Paragraphs>321</Paragraphs>
  <Slides>20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30" baseType="lpstr">
      <vt:lpstr>Inter</vt:lpstr>
      <vt:lpstr>Noto Sans CJK TC</vt:lpstr>
      <vt:lpstr>標楷體</vt:lpstr>
      <vt:lpstr>Aptos</vt:lpstr>
      <vt:lpstr>Arial</vt:lpstr>
      <vt:lpstr>Calibri</vt:lpstr>
      <vt:lpstr>Calibri Light</vt:lpstr>
      <vt:lpstr>Courier New</vt:lpstr>
      <vt:lpstr>Times New Roman</vt:lpstr>
      <vt:lpstr>回顧</vt:lpstr>
      <vt:lpstr>從前端思維理解 Spring Boot 三層架構 Spring Boot 3-Layer Architecture 入門</vt:lpstr>
      <vt:lpstr>目錄(水一下)</vt:lpstr>
      <vt:lpstr>後端到底在幹嘛?後端工作流程(圖上面標記前端位置讓他們知道他們的定位)</vt:lpstr>
      <vt:lpstr>沒有分層的情況</vt:lpstr>
      <vt:lpstr>為什麼要學「架構」？</vt:lpstr>
      <vt:lpstr>Controller 層 </vt:lpstr>
      <vt:lpstr>Service 層</vt:lpstr>
      <vt:lpstr>Dao / Reposity層</vt:lpstr>
      <vt:lpstr>用前端概念類比後端三層</vt:lpstr>
      <vt:lpstr>生活化比喻 —— 餐廳經營</vt:lpstr>
      <vt:lpstr>組件標籤</vt:lpstr>
      <vt:lpstr>Controller : 後端API的入口</vt:lpstr>
      <vt:lpstr>Service : 商業邏輯的大腦</vt:lpstr>
      <vt:lpstr>Repository：資料存取的窗口 </vt:lpstr>
      <vt:lpstr>範例程式拆解 (一)執行結果是什麼  Controller 層：設定網址。</vt:lpstr>
      <vt:lpstr>範例程式拆解 (二)  Service 層：把名字加工，加上問候語。</vt:lpstr>
      <vt:lpstr>範例程式拆解 (三)  Repository 層：假設資料庫裡有一個名字。</vt:lpstr>
      <vt:lpstr>課堂習題 - 實作「商品折扣計算器」</vt:lpstr>
      <vt:lpstr>課堂練習 1：請判斷登入功能該怎麼分層</vt:lpstr>
      <vt:lpstr>課堂練習2：購物車結帳功能</vt:lpstr>
    </vt:vector>
  </TitlesOfParts>
  <Company>Cathay Century Insurance CO.,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Boot 三層架構 (3-Layer Architecture)</dc:title>
  <dc:creator>陳禹翔 Grant</dc:creator>
  <cp:lastModifiedBy>禹翔 陳</cp:lastModifiedBy>
  <cp:revision>48</cp:revision>
  <dcterms:created xsi:type="dcterms:W3CDTF">2026-04-02T03:27:48Z</dcterms:created>
  <dcterms:modified xsi:type="dcterms:W3CDTF">2026-05-26T15:59:27Z</dcterms:modified>
</cp:coreProperties>
</file>