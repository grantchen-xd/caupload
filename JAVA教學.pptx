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notesMasterIdLst>
    <p:notesMasterId r:id="rId17"/>
  </p:notesMasterIdLst>
  <p:sldIdLst>
    <p:sldId id="256" r:id="rId2"/>
    <p:sldId id="265" r:id="rId3"/>
    <p:sldId id="266" r:id="rId4"/>
    <p:sldId id="257" r:id="rId5"/>
    <p:sldId id="272" r:id="rId6"/>
    <p:sldId id="274" r:id="rId7"/>
    <p:sldId id="273" r:id="rId8"/>
    <p:sldId id="268" r:id="rId9"/>
    <p:sldId id="258" r:id="rId10"/>
    <p:sldId id="259" r:id="rId11"/>
    <p:sldId id="269" r:id="rId12"/>
    <p:sldId id="270" r:id="rId13"/>
    <p:sldId id="275" r:id="rId14"/>
    <p:sldId id="264" r:id="rId15"/>
    <p:sldId id="27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佈景主題樣式 2 - 輔色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佈景主題樣式 2 - 輔色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609" autoAdjust="0"/>
  </p:normalViewPr>
  <p:slideViewPr>
    <p:cSldViewPr snapToGrid="0">
      <p:cViewPr varScale="1">
        <p:scale>
          <a:sx n="85" d="100"/>
          <a:sy n="85" d="100"/>
        </p:scale>
        <p:origin x="15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74780-3BA8-45C4-96B3-E4DA451B952B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C28FB-98DF-4E7F-9559-D67F5677BAF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7604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今天這堂課主要是給前端人員理解 </a:t>
            </a:r>
            <a:r>
              <a:rPr lang="en-US" altLang="zh-TW" dirty="0"/>
              <a:t>Spring Boot </a:t>
            </a:r>
            <a:r>
              <a:rPr lang="zh-TW" altLang="en-US" dirty="0"/>
              <a:t>的三層架構。</a:t>
            </a:r>
            <a:br>
              <a:rPr lang="zh-TW" altLang="en-US" dirty="0"/>
            </a:br>
            <a:r>
              <a:rPr lang="zh-TW" altLang="en-US" dirty="0"/>
              <a:t>大家不需要一開始就會寫完整後端，但至少要知道前端呼叫 </a:t>
            </a:r>
            <a:r>
              <a:rPr lang="en-US" altLang="zh-TW" dirty="0"/>
              <a:t>API </a:t>
            </a:r>
            <a:r>
              <a:rPr lang="zh-TW" altLang="en-US" dirty="0"/>
              <a:t>之後，後端內部通常是怎麼分工的。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3506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對前端來說，通常看到的是：我送出一個 </a:t>
            </a:r>
            <a:r>
              <a:rPr lang="en-US" altLang="zh-TW" dirty="0"/>
              <a:t>HTTP Request</a:t>
            </a:r>
            <a:r>
              <a:rPr lang="zh-TW" altLang="en-US" dirty="0"/>
              <a:t>，後端回我一個 </a:t>
            </a:r>
            <a:r>
              <a:rPr lang="en-US" altLang="zh-TW" dirty="0"/>
              <a:t>Response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但後端裡面其實不是只有「收到請求然後回傳字串」這麼簡單。</a:t>
            </a:r>
            <a:br>
              <a:rPr lang="zh-TW" altLang="en-US" dirty="0"/>
            </a:br>
            <a:r>
              <a:rPr lang="zh-TW" altLang="en-US" dirty="0"/>
              <a:t>一個請求進來之後，後端會先接收請求，再處理規則，接著取得資料，最後整理結果回傳。</a:t>
            </a:r>
            <a:br>
              <a:rPr lang="zh-TW" altLang="en-US" dirty="0"/>
            </a:br>
            <a:r>
              <a:rPr lang="zh-TW" altLang="en-US" dirty="0"/>
              <a:t>所以這堂課要講的重點，就是後端怎麼把這些事情拆開，而不是全部塞在同一個地方。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56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這是一個很簡單的 </a:t>
            </a:r>
            <a:r>
              <a:rPr lang="en-US" altLang="zh-TW" dirty="0"/>
              <a:t>API</a:t>
            </a:r>
            <a:r>
              <a:rPr lang="zh-TW" altLang="en-US" dirty="0"/>
              <a:t>，前端打 </a:t>
            </a:r>
            <a:r>
              <a:rPr lang="en-US" altLang="zh-TW" dirty="0"/>
              <a:t>/price/{id}</a:t>
            </a:r>
            <a:r>
              <a:rPr lang="zh-TW" altLang="en-US" dirty="0"/>
              <a:t>，後端根據商品 </a:t>
            </a:r>
            <a:r>
              <a:rPr lang="en-US" altLang="zh-TW" dirty="0"/>
              <a:t>id </a:t>
            </a:r>
            <a:r>
              <a:rPr lang="zh-TW" altLang="en-US" dirty="0"/>
              <a:t>回傳折扣後價格。</a:t>
            </a:r>
            <a:br>
              <a:rPr lang="zh-TW" altLang="en-US" dirty="0"/>
            </a:br>
            <a:r>
              <a:rPr lang="zh-TW" altLang="en-US" dirty="0"/>
              <a:t>這段程式可以跑，但問題是它把所有事情都寫在 </a:t>
            </a:r>
            <a:r>
              <a:rPr lang="en-US" altLang="zh-TW" dirty="0"/>
              <a:t>Controller </a:t>
            </a:r>
            <a:r>
              <a:rPr lang="zh-TW" altLang="en-US" dirty="0"/>
              <a:t>裡面。</a:t>
            </a:r>
            <a:br>
              <a:rPr lang="zh-TW" altLang="en-US" dirty="0"/>
            </a:br>
            <a:r>
              <a:rPr lang="zh-TW" altLang="en-US" dirty="0"/>
              <a:t>它不只接收網址，也自己準備價格資料，還自己計算折扣，最後又自己組回傳文字。</a:t>
            </a:r>
            <a:br>
              <a:rPr lang="zh-TW" altLang="en-US" dirty="0"/>
            </a:br>
            <a:r>
              <a:rPr lang="zh-TW" altLang="en-US" dirty="0"/>
              <a:t>小範例看起來沒差，但如果之後規則變多，例如會員折扣、活動折扣、庫存判斷、權限檢查，這個 </a:t>
            </a:r>
            <a:r>
              <a:rPr lang="en-US" altLang="zh-TW" dirty="0"/>
              <a:t>Controller </a:t>
            </a:r>
            <a:r>
              <a:rPr lang="zh-TW" altLang="en-US" dirty="0"/>
              <a:t>就會越來越長、越來越難改。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8789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這頁講法：</a:t>
            </a:r>
          </a:p>
          <a:p>
            <a:endParaRPr lang="zh-TW" altLang="en-US" b="1" dirty="0"/>
          </a:p>
          <a:p>
            <a:r>
              <a:rPr lang="zh-TW" altLang="en-US" b="1" dirty="0"/>
              <a:t>如果把接收請求、檢查資料、計算規則、存取資料全部寫在同一支程式裡，短期看起來很快，但專案變大後會很難維護。</a:t>
            </a:r>
          </a:p>
          <a:p>
            <a:endParaRPr lang="zh-TW" altLang="en-US" b="1" dirty="0"/>
          </a:p>
          <a:p>
            <a:r>
              <a:rPr lang="zh-TW" altLang="en-US" b="1" dirty="0"/>
              <a:t>所以我們會把後端程式拆成不同角色：</a:t>
            </a:r>
          </a:p>
          <a:p>
            <a:r>
              <a:rPr lang="en-US" altLang="zh-TW" b="1" dirty="0"/>
              <a:t>Controller </a:t>
            </a:r>
            <a:r>
              <a:rPr lang="zh-TW" altLang="en-US" b="1" dirty="0"/>
              <a:t>負責接收前端請求，</a:t>
            </a:r>
          </a:p>
          <a:p>
            <a:r>
              <a:rPr lang="en-US" altLang="zh-TW" b="1" dirty="0"/>
              <a:t>Service </a:t>
            </a:r>
            <a:r>
              <a:rPr lang="zh-TW" altLang="en-US" b="1" dirty="0"/>
              <a:t>負責處理商業邏輯，</a:t>
            </a:r>
          </a:p>
          <a:p>
            <a:r>
              <a:rPr lang="en-US" altLang="zh-TW" b="1" dirty="0"/>
              <a:t>DAO / Repository </a:t>
            </a:r>
            <a:r>
              <a:rPr lang="zh-TW" altLang="en-US" b="1" dirty="0"/>
              <a:t>負責存取資料。</a:t>
            </a:r>
          </a:p>
          <a:p>
            <a:endParaRPr lang="zh-TW" altLang="en-US" b="1" dirty="0"/>
          </a:p>
          <a:p>
            <a:r>
              <a:rPr lang="zh-TW" altLang="en-US" b="1" dirty="0"/>
              <a:t>三層式架構的核心概念就是：各司其職，分工合作。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7933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Controller </a:t>
            </a:r>
            <a:r>
              <a:rPr lang="zh-TW" altLang="en-US" dirty="0"/>
              <a:t>是前端請求進入後端的第一站。</a:t>
            </a:r>
            <a:br>
              <a:rPr lang="zh-TW" altLang="en-US" dirty="0"/>
            </a:br>
            <a:r>
              <a:rPr lang="zh-TW" altLang="en-US" dirty="0"/>
              <a:t>前端打 </a:t>
            </a:r>
            <a:r>
              <a:rPr lang="en-US" altLang="zh-TW" dirty="0"/>
              <a:t>API</a:t>
            </a:r>
            <a:r>
              <a:rPr lang="zh-TW" altLang="en-US" dirty="0"/>
              <a:t>，例如 </a:t>
            </a:r>
            <a:r>
              <a:rPr lang="en-US" altLang="zh-TW" dirty="0"/>
              <a:t>GET</a:t>
            </a:r>
            <a:r>
              <a:rPr lang="zh-TW" altLang="en-US" dirty="0"/>
              <a:t>、</a:t>
            </a:r>
            <a:r>
              <a:rPr lang="en-US" altLang="zh-TW" dirty="0"/>
              <a:t>POST</a:t>
            </a:r>
            <a:r>
              <a:rPr lang="zh-TW" altLang="en-US" dirty="0"/>
              <a:t>，第一個會進到的通常就是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的工作是接收 </a:t>
            </a:r>
            <a:r>
              <a:rPr lang="en-US" altLang="zh-TW" dirty="0"/>
              <a:t>HTTP Request</a:t>
            </a:r>
            <a:r>
              <a:rPr lang="zh-TW" altLang="en-US" dirty="0"/>
              <a:t>，取得前端傳來的資料，例如 </a:t>
            </a:r>
            <a:r>
              <a:rPr lang="en-US" altLang="zh-TW" dirty="0"/>
              <a:t>URL </a:t>
            </a:r>
            <a:r>
              <a:rPr lang="zh-TW" altLang="en-US" dirty="0"/>
              <a:t>參數、</a:t>
            </a:r>
            <a:r>
              <a:rPr lang="en-US" altLang="zh-TW" dirty="0"/>
              <a:t>Query </a:t>
            </a:r>
            <a:r>
              <a:rPr lang="zh-TW" altLang="en-US" dirty="0"/>
              <a:t>參數、</a:t>
            </a:r>
            <a:r>
              <a:rPr lang="en-US" altLang="zh-TW" dirty="0"/>
              <a:t>Request Body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 </a:t>
            </a:r>
            <a:r>
              <a:rPr lang="en-US" altLang="zh-TW" dirty="0"/>
              <a:t>Controller </a:t>
            </a:r>
            <a:r>
              <a:rPr lang="zh-TW" altLang="en-US" dirty="0"/>
              <a:t>不應該自己處理主要商業邏輯，它應該把事情交給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最後 </a:t>
            </a:r>
            <a:r>
              <a:rPr lang="en-US" altLang="zh-TW" dirty="0"/>
              <a:t>Service </a:t>
            </a:r>
            <a:r>
              <a:rPr lang="zh-TW" altLang="en-US" dirty="0"/>
              <a:t>處理完之後，</a:t>
            </a:r>
            <a:r>
              <a:rPr lang="en-US" altLang="zh-TW" dirty="0"/>
              <a:t>Controller </a:t>
            </a:r>
            <a:r>
              <a:rPr lang="zh-TW" altLang="en-US" dirty="0"/>
              <a:t>再把結果包成 </a:t>
            </a:r>
            <a:r>
              <a:rPr lang="en-US" altLang="zh-TW" dirty="0"/>
              <a:t>Response </a:t>
            </a:r>
            <a:r>
              <a:rPr lang="zh-TW" altLang="en-US" dirty="0"/>
              <a:t>回傳給前端。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Controller </a:t>
            </a:r>
            <a:r>
              <a:rPr lang="zh-TW" altLang="en-US" dirty="0"/>
              <a:t>是 </a:t>
            </a:r>
            <a:r>
              <a:rPr lang="en-US" altLang="zh-TW" dirty="0"/>
              <a:t>API </a:t>
            </a:r>
            <a:r>
              <a:rPr lang="zh-TW" altLang="en-US" dirty="0"/>
              <a:t>入口，不是邏輯處理中心。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09357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Service </a:t>
            </a:r>
            <a:r>
              <a:rPr lang="zh-TW" altLang="en-US" dirty="0"/>
              <a:t>是真正處理規則的地方。</a:t>
            </a:r>
            <a:br>
              <a:rPr lang="zh-TW" altLang="en-US" dirty="0"/>
            </a:br>
            <a:r>
              <a:rPr lang="zh-TW" altLang="en-US" dirty="0"/>
              <a:t>比如檢查資料是否合法、判斷帳號密碼是否正確、計算折扣、判斷庫存夠不夠，這些都比較適合放在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收到請求後，只需要呼叫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所以 </a:t>
            </a:r>
            <a:r>
              <a:rPr lang="en-US" altLang="zh-TW" dirty="0"/>
              <a:t>Service </a:t>
            </a:r>
            <a:r>
              <a:rPr lang="zh-TW" altLang="en-US" dirty="0"/>
              <a:t>可以理解成</a:t>
            </a:r>
            <a:r>
              <a:rPr lang="en-US" altLang="zh-TW" dirty="0"/>
              <a:t>API</a:t>
            </a:r>
            <a:r>
              <a:rPr lang="zh-TW" altLang="en-US" dirty="0"/>
              <a:t>功能的流程控制中心。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398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DAO </a:t>
            </a:r>
            <a:r>
              <a:rPr lang="zh-TW" altLang="en-US" dirty="0"/>
              <a:t>或 </a:t>
            </a:r>
            <a:r>
              <a:rPr lang="en-US" altLang="zh-TW" dirty="0"/>
              <a:t>Repository </a:t>
            </a:r>
            <a:r>
              <a:rPr lang="zh-TW" altLang="en-US" dirty="0"/>
              <a:t>是資料存取層。</a:t>
            </a:r>
            <a:br>
              <a:rPr lang="zh-TW" altLang="en-US" dirty="0"/>
            </a:br>
            <a:r>
              <a:rPr lang="zh-TW" altLang="en-US" dirty="0"/>
              <a:t>它主要負責查詢、新增、修改、刪除資料，也就是 </a:t>
            </a:r>
            <a:r>
              <a:rPr lang="en-US" altLang="zh-TW" dirty="0"/>
              <a:t>CRUD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如果需要資料，不應該自己去資料庫查，而是呼叫 </a:t>
            </a:r>
            <a:r>
              <a:rPr lang="en-US" altLang="zh-TW" dirty="0"/>
              <a:t>Repository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幫 </a:t>
            </a:r>
            <a:r>
              <a:rPr lang="en-US" altLang="zh-TW" dirty="0"/>
              <a:t>Service </a:t>
            </a:r>
            <a:r>
              <a:rPr lang="zh-TW" altLang="en-US" dirty="0"/>
              <a:t>把資料拿回來，</a:t>
            </a:r>
            <a:r>
              <a:rPr lang="en-US" altLang="zh-TW" dirty="0"/>
              <a:t>Service </a:t>
            </a:r>
            <a:r>
              <a:rPr lang="zh-TW" altLang="en-US" dirty="0"/>
              <a:t>再根據規則處理。</a:t>
            </a:r>
            <a:br>
              <a:rPr lang="zh-TW" altLang="en-US" dirty="0"/>
            </a:br>
            <a:r>
              <a:rPr lang="zh-TW" altLang="en-US" dirty="0"/>
              <a:t>在正式專案裡，這一層可能會用 </a:t>
            </a:r>
            <a:r>
              <a:rPr lang="en-US" altLang="zh-TW" dirty="0"/>
              <a:t>JPA</a:t>
            </a:r>
            <a:r>
              <a:rPr lang="zh-TW" altLang="en-US" dirty="0"/>
              <a:t>、</a:t>
            </a:r>
            <a:r>
              <a:rPr lang="en-US" altLang="zh-TW" dirty="0" err="1"/>
              <a:t>MyBatis</a:t>
            </a:r>
            <a:r>
              <a:rPr lang="en-US" altLang="zh-TW" dirty="0"/>
              <a:t> </a:t>
            </a:r>
            <a:r>
              <a:rPr lang="zh-TW" altLang="en-US" dirty="0"/>
              <a:t>或 </a:t>
            </a:r>
            <a:r>
              <a:rPr lang="en-US" altLang="zh-TW" dirty="0"/>
              <a:t>SQL</a:t>
            </a:r>
            <a:r>
              <a:rPr lang="zh-TW" altLang="en-US" dirty="0"/>
              <a:t>；在我們今天的教學範例中，可以先用假資料模擬資料庫。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45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因為大家比較熟前端，所以這裡用前端概念來類比。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有點像 </a:t>
            </a:r>
            <a:r>
              <a:rPr lang="en-US" altLang="zh-TW" dirty="0"/>
              <a:t>Router </a:t>
            </a:r>
            <a:r>
              <a:rPr lang="zh-TW" altLang="en-US" dirty="0"/>
              <a:t>或 </a:t>
            </a:r>
            <a:r>
              <a:rPr lang="en-US" altLang="zh-TW" dirty="0"/>
              <a:t>Page </a:t>
            </a:r>
            <a:r>
              <a:rPr lang="zh-TW" altLang="en-US" dirty="0"/>
              <a:t>入口，決定這個請求要進到哪裡。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比較像資料處理邏輯，例如 </a:t>
            </a:r>
            <a:r>
              <a:rPr lang="en-US" altLang="zh-TW" dirty="0"/>
              <a:t>hooks</a:t>
            </a:r>
            <a:r>
              <a:rPr lang="zh-TW" altLang="en-US" dirty="0"/>
              <a:t>、</a:t>
            </a:r>
            <a:r>
              <a:rPr lang="en-US" altLang="zh-TW" dirty="0"/>
              <a:t>utils </a:t>
            </a:r>
            <a:r>
              <a:rPr lang="zh-TW" altLang="en-US" dirty="0"/>
              <a:t>或某些處理資料的 </a:t>
            </a:r>
            <a:r>
              <a:rPr lang="en-US" altLang="zh-TW" dirty="0"/>
              <a:t>function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則像專門取得資料的 </a:t>
            </a:r>
            <a:r>
              <a:rPr lang="en-US" altLang="zh-TW" dirty="0"/>
              <a:t>API function </a:t>
            </a:r>
            <a:r>
              <a:rPr lang="zh-TW" altLang="en-US" dirty="0"/>
              <a:t>或 </a:t>
            </a:r>
            <a:r>
              <a:rPr lang="en-US" altLang="zh-TW" dirty="0"/>
              <a:t>data service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但要注意，這只是幫助理解的類比，不是完全一對一相等。</a:t>
            </a:r>
            <a:br>
              <a:rPr lang="zh-TW" altLang="en-US" dirty="0"/>
            </a:br>
            <a:r>
              <a:rPr lang="zh-TW" altLang="en-US" dirty="0"/>
              <a:t>後端三層架構的重點，是把「入口」、「邏輯」、「資料存取」分開。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94441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可以把三層架構想成餐廳。</a:t>
            </a:r>
            <a:br>
              <a:rPr lang="zh-TW" altLang="en-US" dirty="0"/>
            </a:br>
            <a:r>
              <a:rPr lang="en-US" altLang="zh-TW" dirty="0"/>
              <a:t>Controller </a:t>
            </a:r>
            <a:r>
              <a:rPr lang="zh-TW" altLang="en-US" dirty="0"/>
              <a:t>像服務生，負責面對客人、接單、把需求送進去。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像主廚，負責根據菜單決定怎麼料理，也就是處理規則和流程。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像倉庫管理員，主廚需要食材時，倉庫管理員負責拿出來。</a:t>
            </a:r>
            <a:br>
              <a:rPr lang="zh-TW" altLang="en-US" dirty="0"/>
            </a:br>
            <a:r>
              <a:rPr lang="zh-TW" altLang="en-US" dirty="0"/>
              <a:t>服務生不應該自己煮菜，主廚也不應該自己跑去倉庫翻資料。</a:t>
            </a:r>
            <a:br>
              <a:rPr lang="zh-TW" altLang="en-US" dirty="0"/>
            </a:br>
            <a:r>
              <a:rPr lang="zh-TW" altLang="en-US" dirty="0"/>
              <a:t>這就是三層架構的核心：職責分離。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2345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可以跟前端說：</a:t>
            </a:r>
          </a:p>
          <a:p>
            <a:r>
              <a:rPr lang="zh-TW" altLang="en-US" dirty="0"/>
              <a:t>在 </a:t>
            </a:r>
            <a:r>
              <a:rPr lang="en-US" altLang="zh-TW" dirty="0"/>
              <a:t>Vue / React </a:t>
            </a:r>
            <a:r>
              <a:rPr lang="zh-TW" altLang="en-US" dirty="0"/>
              <a:t>裡，我們會把畫面拆成元件：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Navbar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ProductCard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LoginForm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TW" altLang="en-US" dirty="0"/>
              <a:t>每個元件有自己的責任。</a:t>
            </a:r>
          </a:p>
          <a:p>
            <a:r>
              <a:rPr lang="en-US" altLang="zh-TW" dirty="0"/>
              <a:t>Spring Boot </a:t>
            </a:r>
            <a:r>
              <a:rPr lang="zh-TW" altLang="en-US" dirty="0"/>
              <a:t>也類似，它會把後端程式拆成不同元件：</a:t>
            </a:r>
          </a:p>
          <a:p>
            <a:pPr rtl="0"/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Controller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Service</a:t>
            </a:r>
            <a:b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Repository</a:t>
            </a:r>
          </a:p>
          <a:p>
            <a:r>
              <a:rPr lang="zh-TW" altLang="en-US" dirty="0"/>
              <a:t>而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@Controller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@Service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@Repository</a:t>
            </a:r>
            <a:r>
              <a:rPr lang="en-US" altLang="zh-TW" dirty="0"/>
              <a:t> </a:t>
            </a:r>
            <a:r>
              <a:rPr lang="zh-TW" altLang="en-US" dirty="0"/>
              <a:t>就是告訴 </a:t>
            </a:r>
            <a:r>
              <a:rPr lang="en-US" altLang="zh-TW" dirty="0"/>
              <a:t>Spring</a:t>
            </a:r>
            <a:r>
              <a:rPr lang="zh-TW" altLang="en-US" dirty="0"/>
              <a:t>：</a:t>
            </a:r>
          </a:p>
          <a:p>
            <a:r>
              <a:rPr lang="zh-TW" altLang="en-US" dirty="0"/>
              <a:t>這個 </a:t>
            </a:r>
            <a:r>
              <a:rPr lang="en-US" altLang="zh-TW" dirty="0"/>
              <a:t>class </a:t>
            </a:r>
            <a:r>
              <a:rPr lang="zh-TW" altLang="en-US" dirty="0"/>
              <a:t>是哪一種後端元件。</a:t>
            </a:r>
          </a:p>
          <a:p>
            <a:r>
              <a:rPr lang="en-US" altLang="zh-TW" dirty="0"/>
              <a:t>Spring </a:t>
            </a:r>
            <a:r>
              <a:rPr lang="zh-TW" altLang="en-US" dirty="0"/>
              <a:t>看到這些標籤後，就知道這些 </a:t>
            </a:r>
            <a:r>
              <a:rPr lang="en-US" altLang="zh-TW" dirty="0"/>
              <a:t>class </a:t>
            </a:r>
            <a:r>
              <a:rPr lang="zh-TW" altLang="en-US" dirty="0"/>
              <a:t>要交給它管理，也可以在其他地方自動注入使用。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655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這頁開始看程式。</a:t>
            </a:r>
            <a:br>
              <a:rPr lang="zh-TW" altLang="en-US" dirty="0"/>
            </a:br>
            <a:r>
              <a:rPr lang="en-US" altLang="zh-TW" dirty="0"/>
              <a:t>@RestController </a:t>
            </a:r>
            <a:r>
              <a:rPr lang="zh-TW" altLang="en-US" dirty="0"/>
              <a:t>代表這是一個 </a:t>
            </a:r>
            <a:r>
              <a:rPr lang="en-US" altLang="zh-TW" dirty="0"/>
              <a:t>API 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@Autowired private </a:t>
            </a:r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en-US" altLang="zh-TW" dirty="0" err="1"/>
              <a:t>greetService</a:t>
            </a:r>
            <a:r>
              <a:rPr lang="en-US" altLang="zh-TW" dirty="0"/>
              <a:t>; </a:t>
            </a:r>
            <a:r>
              <a:rPr lang="zh-TW" altLang="en-US" dirty="0"/>
              <a:t>代表 </a:t>
            </a:r>
            <a:r>
              <a:rPr lang="en-US" altLang="zh-TW" dirty="0"/>
              <a:t>Controller </a:t>
            </a:r>
            <a:r>
              <a:rPr lang="zh-TW" altLang="en-US" dirty="0"/>
              <a:t>需要用到 </a:t>
            </a:r>
            <a:r>
              <a:rPr lang="en-US" altLang="zh-TW" dirty="0"/>
              <a:t>Service</a:t>
            </a:r>
            <a:r>
              <a:rPr lang="zh-TW" altLang="en-US" dirty="0"/>
              <a:t>，所以請 </a:t>
            </a:r>
            <a:r>
              <a:rPr lang="en-US" altLang="zh-TW" dirty="0"/>
              <a:t>Spring </a:t>
            </a:r>
            <a:r>
              <a:rPr lang="zh-TW" altLang="en-US" dirty="0"/>
              <a:t>幫我們把 </a:t>
            </a:r>
            <a:r>
              <a:rPr lang="en-US" altLang="zh-TW" dirty="0"/>
              <a:t>Service </a:t>
            </a:r>
            <a:r>
              <a:rPr lang="zh-TW" altLang="en-US" dirty="0"/>
              <a:t>放進來。</a:t>
            </a:r>
            <a:br>
              <a:rPr lang="zh-TW" altLang="en-US" dirty="0"/>
            </a:br>
            <a:r>
              <a:rPr lang="en-US" altLang="zh-TW" dirty="0"/>
              <a:t>@GetMapping("/hello") </a:t>
            </a:r>
            <a:r>
              <a:rPr lang="zh-TW" altLang="en-US" dirty="0"/>
              <a:t>代表當前端呼叫 </a:t>
            </a:r>
            <a:r>
              <a:rPr lang="en-US" altLang="zh-TW" dirty="0"/>
              <a:t>/hello </a:t>
            </a:r>
            <a:r>
              <a:rPr lang="zh-TW" altLang="en-US" dirty="0"/>
              <a:t>這個 </a:t>
            </a:r>
            <a:r>
              <a:rPr lang="en-US" altLang="zh-TW" dirty="0"/>
              <a:t>API </a:t>
            </a:r>
            <a:r>
              <a:rPr lang="zh-TW" altLang="en-US" dirty="0"/>
              <a:t>時，就會進到 </a:t>
            </a:r>
            <a:r>
              <a:rPr lang="en-US" altLang="zh-TW" dirty="0" err="1"/>
              <a:t>sayHello</a:t>
            </a:r>
            <a:r>
              <a:rPr lang="en-US" altLang="zh-TW" dirty="0"/>
              <a:t>() </a:t>
            </a:r>
            <a:r>
              <a:rPr lang="zh-TW" altLang="en-US" dirty="0"/>
              <a:t>這個方法。</a:t>
            </a:r>
            <a:br>
              <a:rPr lang="zh-TW" altLang="en-US" dirty="0"/>
            </a:br>
            <a:r>
              <a:rPr lang="zh-TW" altLang="en-US" dirty="0"/>
              <a:t>這裡的重點是 </a:t>
            </a:r>
            <a:r>
              <a:rPr lang="en-US" altLang="zh-TW" dirty="0"/>
              <a:t>Controller </a:t>
            </a:r>
            <a:r>
              <a:rPr lang="zh-TW" altLang="en-US" dirty="0"/>
              <a:t>只負責接收請求，真正的處理邏輯應該交給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接下來我們用一個簡單的問候系統，把三層串起來看。</a:t>
            </a:r>
            <a:br>
              <a:rPr lang="zh-TW" altLang="en-US" dirty="0"/>
            </a:br>
            <a:r>
              <a:rPr lang="zh-TW" altLang="en-US" dirty="0"/>
              <a:t>首先是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en-US" altLang="zh-TW" dirty="0"/>
              <a:t>@RestController </a:t>
            </a:r>
            <a:r>
              <a:rPr lang="zh-TW" altLang="en-US" dirty="0"/>
              <a:t>表示這是一個 </a:t>
            </a:r>
            <a:r>
              <a:rPr lang="en-US" altLang="zh-TW" dirty="0"/>
              <a:t>API </a:t>
            </a:r>
            <a:r>
              <a:rPr lang="zh-TW" altLang="en-US" dirty="0"/>
              <a:t>入口。</a:t>
            </a:r>
            <a:br>
              <a:rPr lang="zh-TW" altLang="en-US" dirty="0"/>
            </a:br>
            <a:r>
              <a:rPr lang="en-US" altLang="zh-TW" dirty="0"/>
              <a:t>@GetMapping("/hello") </a:t>
            </a:r>
            <a:r>
              <a:rPr lang="zh-TW" altLang="en-US" dirty="0"/>
              <a:t>表示前端呼叫 </a:t>
            </a:r>
            <a:r>
              <a:rPr lang="en-US" altLang="zh-TW" dirty="0"/>
              <a:t>/hello </a:t>
            </a:r>
            <a:r>
              <a:rPr lang="zh-TW" altLang="en-US" dirty="0"/>
              <a:t>時，會執行 </a:t>
            </a:r>
            <a:r>
              <a:rPr lang="en-US" altLang="zh-TW" dirty="0" err="1"/>
              <a:t>sayHello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 </a:t>
            </a:r>
            <a:r>
              <a:rPr lang="en-US" altLang="zh-TW" dirty="0"/>
              <a:t>Controller </a:t>
            </a:r>
            <a:r>
              <a:rPr lang="zh-TW" altLang="en-US" dirty="0"/>
              <a:t>不自己產生問候語，而是呼叫 </a:t>
            </a:r>
            <a:r>
              <a:rPr lang="en-US" altLang="zh-TW" dirty="0" err="1"/>
              <a:t>greetService.makeGreeting</a:t>
            </a:r>
            <a:r>
              <a:rPr lang="en-US" altLang="zh-TW" dirty="0"/>
              <a:t>()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Controller </a:t>
            </a:r>
            <a:r>
              <a:rPr lang="zh-TW" altLang="en-US" dirty="0"/>
              <a:t>只負責接收請求、呼叫 </a:t>
            </a:r>
            <a:r>
              <a:rPr lang="en-US" altLang="zh-TW" dirty="0"/>
              <a:t>Service</a:t>
            </a:r>
            <a:r>
              <a:rPr lang="zh-TW" altLang="en-US" dirty="0"/>
              <a:t>、回傳結果。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989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這頁是 </a:t>
            </a:r>
            <a:r>
              <a:rPr lang="en-US" altLang="zh-TW" dirty="0"/>
              <a:t>Service </a:t>
            </a:r>
            <a:r>
              <a:rPr lang="zh-TW" altLang="en-US" dirty="0"/>
              <a:t>的範例。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 err="1"/>
              <a:t>GreetService</a:t>
            </a:r>
            <a:r>
              <a:rPr lang="en-US" altLang="zh-TW" dirty="0"/>
              <a:t> </a:t>
            </a:r>
            <a:r>
              <a:rPr lang="zh-TW" altLang="en-US" dirty="0"/>
              <a:t>負責產生問候語。</a:t>
            </a:r>
            <a:br>
              <a:rPr lang="zh-TW" altLang="en-US" dirty="0"/>
            </a:br>
            <a:r>
              <a:rPr lang="zh-TW" altLang="en-US" dirty="0"/>
              <a:t>它需要名字，所以它呼叫 </a:t>
            </a:r>
            <a:r>
              <a:rPr lang="en-US" altLang="zh-TW" dirty="0" err="1"/>
              <a:t>nameRepo.getNameFromDB</a:t>
            </a:r>
            <a:r>
              <a:rPr lang="en-US" altLang="zh-TW" dirty="0"/>
              <a:t>()</a:t>
            </a:r>
            <a:r>
              <a:rPr lang="zh-TW" altLang="en-US" dirty="0"/>
              <a:t>，請 </a:t>
            </a:r>
            <a:r>
              <a:rPr lang="en-US" altLang="zh-TW" dirty="0"/>
              <a:t>Repository </a:t>
            </a:r>
            <a:r>
              <a:rPr lang="zh-TW" altLang="en-US" dirty="0"/>
              <a:t>幫它拿資料。</a:t>
            </a:r>
            <a:br>
              <a:rPr lang="zh-TW" altLang="en-US" dirty="0"/>
            </a:br>
            <a:r>
              <a:rPr lang="en-US" altLang="zh-TW" dirty="0"/>
              <a:t>Repository </a:t>
            </a:r>
            <a:r>
              <a:rPr lang="zh-TW" altLang="en-US" dirty="0"/>
              <a:t>拿回名字之後，</a:t>
            </a:r>
            <a:r>
              <a:rPr lang="en-US" altLang="zh-TW" dirty="0"/>
              <a:t>Service </a:t>
            </a:r>
            <a:r>
              <a:rPr lang="zh-TW" altLang="en-US" dirty="0"/>
              <a:t>把名字加工成一句完整的話：你好，某某某，歡迎光臨。</a:t>
            </a:r>
            <a:br>
              <a:rPr lang="zh-TW" altLang="en-US" dirty="0"/>
            </a:br>
            <a:r>
              <a:rPr lang="zh-TW" altLang="en-US" dirty="0"/>
              <a:t>所以 </a:t>
            </a:r>
            <a:r>
              <a:rPr lang="en-US" altLang="zh-TW" dirty="0"/>
              <a:t>Service </a:t>
            </a:r>
            <a:r>
              <a:rPr lang="zh-TW" altLang="en-US" dirty="0"/>
              <a:t>的角色是處理邏輯，不是單純拿資料，也不是直接接 </a:t>
            </a:r>
            <a:r>
              <a:rPr lang="en-US" altLang="zh-TW" dirty="0"/>
              <a:t>API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9855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Repository </a:t>
            </a:r>
            <a:r>
              <a:rPr lang="zh-TW" altLang="en-US" dirty="0"/>
              <a:t>負責資料從哪裡來。</a:t>
            </a:r>
            <a:br>
              <a:rPr lang="zh-TW" altLang="en-US" dirty="0"/>
            </a:br>
            <a:r>
              <a:rPr lang="zh-TW" altLang="en-US" dirty="0"/>
              <a:t>這裡我們沒有真的連資料庫，所以用 </a:t>
            </a:r>
            <a:r>
              <a:rPr lang="en-US" altLang="zh-TW" dirty="0"/>
              <a:t>if </a:t>
            </a:r>
            <a:r>
              <a:rPr lang="zh-TW" altLang="en-US" dirty="0"/>
              <a:t>來模擬資料查詢。</a:t>
            </a:r>
            <a:br>
              <a:rPr lang="zh-TW" altLang="en-US" dirty="0"/>
            </a:br>
            <a:r>
              <a:rPr lang="zh-TW" altLang="en-US" dirty="0"/>
              <a:t>如果 </a:t>
            </a:r>
            <a:r>
              <a:rPr lang="en-US" altLang="zh-TW" dirty="0"/>
              <a:t>id </a:t>
            </a:r>
            <a:r>
              <a:rPr lang="zh-TW" altLang="en-US" dirty="0"/>
              <a:t>是 </a:t>
            </a:r>
            <a:r>
              <a:rPr lang="en-US" altLang="zh-TW" dirty="0"/>
              <a:t>1</a:t>
            </a:r>
            <a:r>
              <a:rPr lang="zh-TW" altLang="en-US" dirty="0"/>
              <a:t>，就回傳 </a:t>
            </a:r>
            <a:r>
              <a:rPr lang="en-US" altLang="zh-TW" dirty="0"/>
              <a:t>1000</a:t>
            </a:r>
            <a:r>
              <a:rPr lang="zh-TW" altLang="en-US" dirty="0"/>
              <a:t>；如果 </a:t>
            </a:r>
            <a:r>
              <a:rPr lang="en-US" altLang="zh-TW" dirty="0"/>
              <a:t>id </a:t>
            </a:r>
            <a:r>
              <a:rPr lang="zh-TW" altLang="en-US" dirty="0"/>
              <a:t>是 </a:t>
            </a:r>
            <a:r>
              <a:rPr lang="en-US" altLang="zh-TW" dirty="0"/>
              <a:t>2</a:t>
            </a:r>
            <a:r>
              <a:rPr lang="zh-TW" altLang="en-US" dirty="0"/>
              <a:t>，就回傳 </a:t>
            </a:r>
            <a:r>
              <a:rPr lang="en-US" altLang="zh-TW" dirty="0"/>
              <a:t>2000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在正式專案裡，這裡可能會改成查資料庫、呼叫 </a:t>
            </a:r>
            <a:r>
              <a:rPr lang="en-US" altLang="zh-TW" dirty="0"/>
              <a:t>SQL</a:t>
            </a:r>
            <a:r>
              <a:rPr lang="zh-TW" altLang="en-US" dirty="0"/>
              <a:t>、使用 </a:t>
            </a:r>
            <a:r>
              <a:rPr lang="en-US" altLang="zh-TW" dirty="0"/>
              <a:t>JPA </a:t>
            </a:r>
            <a:r>
              <a:rPr lang="zh-TW" altLang="en-US" dirty="0"/>
              <a:t>或 </a:t>
            </a:r>
            <a:r>
              <a:rPr lang="en-US" altLang="zh-TW" dirty="0" err="1"/>
              <a:t>MyBatis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但不管資料來源是真的資料庫還是假資料，重點都是一樣的：資料存取要放在 </a:t>
            </a:r>
            <a:r>
              <a:rPr lang="en-US" altLang="zh-TW" dirty="0"/>
              <a:t>Repository</a:t>
            </a:r>
            <a:r>
              <a:rPr lang="zh-TW" altLang="en-US" dirty="0"/>
              <a:t>，不要塞在 </a:t>
            </a:r>
            <a:r>
              <a:rPr lang="en-US" altLang="zh-TW" dirty="0"/>
              <a:t>Controller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這裡用 </a:t>
            </a:r>
            <a:r>
              <a:rPr lang="en-US" altLang="zh-TW" dirty="0" err="1"/>
              <a:t>NameRepository</a:t>
            </a:r>
            <a:r>
              <a:rPr lang="en-US" altLang="zh-TW" dirty="0"/>
              <a:t> </a:t>
            </a:r>
            <a:r>
              <a:rPr lang="zh-TW" altLang="en-US" dirty="0"/>
              <a:t>模擬資料庫，直接回傳「王小明」。</a:t>
            </a:r>
            <a:br>
              <a:rPr lang="zh-TW" altLang="en-US" dirty="0"/>
            </a:br>
            <a:r>
              <a:rPr lang="zh-TW" altLang="en-US" dirty="0"/>
              <a:t>現在看起來很簡單，但它代表的是資料來源。</a:t>
            </a:r>
            <a:br>
              <a:rPr lang="zh-TW" altLang="en-US" dirty="0"/>
            </a:br>
            <a:r>
              <a:rPr lang="zh-TW" altLang="en-US" dirty="0"/>
              <a:t>也就是說，</a:t>
            </a:r>
            <a:r>
              <a:rPr lang="en-US" altLang="zh-TW" dirty="0"/>
              <a:t>Service </a:t>
            </a:r>
            <a:r>
              <a:rPr lang="zh-TW" altLang="en-US" dirty="0"/>
              <a:t>不需要知道名字到底是從資料庫、</a:t>
            </a:r>
            <a:r>
              <a:rPr lang="en-US" altLang="zh-TW" dirty="0"/>
              <a:t>API</a:t>
            </a:r>
            <a:r>
              <a:rPr lang="zh-TW" altLang="en-US" dirty="0"/>
              <a:t>、檔案還是假資料來的。</a:t>
            </a:r>
            <a:br>
              <a:rPr lang="zh-TW" altLang="en-US" dirty="0"/>
            </a:br>
            <a:r>
              <a:rPr lang="en-US" altLang="zh-TW" dirty="0"/>
              <a:t>Service </a:t>
            </a:r>
            <a:r>
              <a:rPr lang="zh-TW" altLang="en-US" dirty="0"/>
              <a:t>只需要呼叫 </a:t>
            </a:r>
            <a:r>
              <a:rPr lang="en-US" altLang="zh-TW" dirty="0"/>
              <a:t>Repository</a:t>
            </a:r>
            <a:r>
              <a:rPr lang="zh-TW" altLang="en-US" dirty="0"/>
              <a:t>。</a:t>
            </a:r>
            <a:br>
              <a:rPr lang="zh-TW" altLang="en-US" dirty="0"/>
            </a:br>
            <a:r>
              <a:rPr lang="zh-TW" altLang="en-US" dirty="0"/>
              <a:t>這樣未來如果資料來源要改，主要修改 </a:t>
            </a:r>
            <a:r>
              <a:rPr lang="en-US" altLang="zh-TW" dirty="0"/>
              <a:t>Repository </a:t>
            </a:r>
            <a:r>
              <a:rPr lang="zh-TW" altLang="en-US" dirty="0"/>
              <a:t>就好，不需要大改 </a:t>
            </a:r>
            <a:r>
              <a:rPr lang="en-US" altLang="zh-TW" dirty="0"/>
              <a:t>Controller </a:t>
            </a:r>
            <a:r>
              <a:rPr lang="zh-TW" altLang="en-US" dirty="0"/>
              <a:t>或 </a:t>
            </a:r>
            <a:r>
              <a:rPr lang="en-US" altLang="zh-TW" dirty="0"/>
              <a:t>Service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5418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 Controller </a:t>
            </a:r>
            <a:r>
              <a:rPr lang="zh-TW" altLang="en-US" dirty="0"/>
              <a:t>是 </a:t>
            </a:r>
            <a:r>
              <a:rPr lang="en-US" altLang="zh-TW" dirty="0"/>
              <a:t>API </a:t>
            </a:r>
            <a:r>
              <a:rPr lang="zh-TW" altLang="en-US" dirty="0"/>
              <a:t>入口</a:t>
            </a:r>
            <a:endParaRPr lang="en-US" altLang="zh-TW" dirty="0"/>
          </a:p>
          <a:p>
            <a:r>
              <a:rPr lang="en-US" altLang="zh-TW" dirty="0"/>
              <a:t>2. Controller </a:t>
            </a:r>
            <a:r>
              <a:rPr lang="zh-TW" altLang="en-US" dirty="0"/>
              <a:t>負責接收前端資料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屬於登入前的規則判斷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屬於資料查詢</a:t>
            </a:r>
            <a:endParaRPr lang="en-US" altLang="zh-TW" dirty="0"/>
          </a:p>
          <a:p>
            <a:r>
              <a:rPr lang="en-US" altLang="zh-TW" dirty="0"/>
              <a:t>5.</a:t>
            </a:r>
            <a:r>
              <a:rPr lang="zh-TW" altLang="en-US" dirty="0"/>
              <a:t>屬於登入邏輯</a:t>
            </a:r>
            <a:endParaRPr lang="en-US" altLang="zh-TW" dirty="0"/>
          </a:p>
          <a:p>
            <a:r>
              <a:rPr lang="en-US" altLang="zh-TW" dirty="0"/>
              <a:t>6.</a:t>
            </a:r>
            <a:r>
              <a:rPr lang="zh-TW" altLang="en-US" dirty="0"/>
              <a:t>屬於商業邏輯判斷</a:t>
            </a:r>
            <a:endParaRPr lang="en-US" altLang="zh-TW" dirty="0"/>
          </a:p>
          <a:p>
            <a:r>
              <a:rPr lang="en-US" altLang="zh-TW" dirty="0"/>
              <a:t>7.Controller </a:t>
            </a:r>
            <a:r>
              <a:rPr lang="zh-TW" altLang="en-US" dirty="0"/>
              <a:t>負責回傳 </a:t>
            </a:r>
            <a:r>
              <a:rPr lang="en-US" altLang="zh-TW" dirty="0"/>
              <a:t>response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5182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C28FB-98DF-4E7F-9559-D67F5677BAF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0245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5E44A-94B5-43C4-BB6C-4A8F3857A577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F1AB7-5BA6-42EC-B258-377FF983CCDC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817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50947-74BA-4B86-BBDD-46EB9546B05B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845-7DB9-4882-8BCA-BEBC60C4F1CA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238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F5547-D445-4140-B4D8-D417023010DC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524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CC906-FAD7-406D-8B41-F05834A6D322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3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127CE-C26B-4985-A695-176B12DD8B89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34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E4DAFE-EFBD-4BAE-850E-58780F5B136C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68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C0808-BD55-469A-BAD8-0715C7D54B5B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6486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00FA-AFC3-4BAC-BDAE-9776C9140ED1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24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985F-8055-49BF-8CBF-EB3F21728F16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0998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6922D4-3686-4F7E-B9A4-F36143A46421}" type="datetime1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0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6BCF52-7B48-9E17-1DA4-723CF6751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51" y="2072755"/>
            <a:ext cx="10058400" cy="1939410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從前端思維理解 </a:t>
            </a: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Spring Boot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三層架構</a:t>
            </a:r>
            <a:b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Spring Boot 3-Layer Architecture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入門</a:t>
            </a:r>
            <a:endParaRPr lang="zh-TW" altLang="en-US" sz="6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AC19F36-AC20-5732-5E9E-D979BEC33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如何分工？</a:t>
            </a:r>
            <a:endParaRPr lang="en-US" altLang="zh-TW" i="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b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講師：陳禹翔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C86EE9-13E6-27CB-5321-A726A497C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14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5FA1D-36F5-1C39-D35A-6B448F2C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後端收到請求後，會怎麼處理？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B8656-3A18-63CB-FBA6-E0D6FB70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92F6EA4-4FD7-DFDF-5C33-2DE2EDA81FB1}"/>
              </a:ext>
            </a:extLst>
          </p:cNvPr>
          <p:cNvSpPr/>
          <p:nvPr/>
        </p:nvSpPr>
        <p:spPr>
          <a:xfrm>
            <a:off x="1097280" y="2118362"/>
            <a:ext cx="1409699" cy="8229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FB79497-5FBC-0B3F-2CF3-2EE80C759BE4}"/>
              </a:ext>
            </a:extLst>
          </p:cNvPr>
          <p:cNvSpPr/>
          <p:nvPr/>
        </p:nvSpPr>
        <p:spPr>
          <a:xfrm>
            <a:off x="2706010" y="2552701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C9E1570-FAE6-7C33-2DB9-DA15C9620597}"/>
              </a:ext>
            </a:extLst>
          </p:cNvPr>
          <p:cNvSpPr/>
          <p:nvPr/>
        </p:nvSpPr>
        <p:spPr>
          <a:xfrm>
            <a:off x="3331227" y="2141221"/>
            <a:ext cx="1176114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接收請求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50546A4-B5B1-2479-0B1A-E0DCD056106D}"/>
              </a:ext>
            </a:extLst>
          </p:cNvPr>
          <p:cNvSpPr/>
          <p:nvPr/>
        </p:nvSpPr>
        <p:spPr>
          <a:xfrm>
            <a:off x="4746138" y="2552701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0A4535A-F7A9-EBA0-3628-82B7A74CA828}"/>
              </a:ext>
            </a:extLst>
          </p:cNvPr>
          <p:cNvSpPr/>
          <p:nvPr/>
        </p:nvSpPr>
        <p:spPr>
          <a:xfrm>
            <a:off x="5497432" y="2126827"/>
            <a:ext cx="1176114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處理規則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8DB2FBCC-2E56-881A-5221-8FA2C309C80A}"/>
              </a:ext>
            </a:extLst>
          </p:cNvPr>
          <p:cNvSpPr/>
          <p:nvPr/>
        </p:nvSpPr>
        <p:spPr>
          <a:xfrm>
            <a:off x="6882109" y="2552701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E4C304B-DE93-B66F-4CF6-FBF63402B17D}"/>
              </a:ext>
            </a:extLst>
          </p:cNvPr>
          <p:cNvSpPr/>
          <p:nvPr/>
        </p:nvSpPr>
        <p:spPr>
          <a:xfrm>
            <a:off x="7562423" y="2118362"/>
            <a:ext cx="1176114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7A3F3FF8-D6ED-A43E-F9C3-A0605C2366AB}"/>
              </a:ext>
            </a:extLst>
          </p:cNvPr>
          <p:cNvSpPr/>
          <p:nvPr/>
        </p:nvSpPr>
        <p:spPr>
          <a:xfrm>
            <a:off x="8872514" y="2538307"/>
            <a:ext cx="436842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9DACFB6-B027-E07C-C8EF-2371FB5B8847}"/>
              </a:ext>
            </a:extLst>
          </p:cNvPr>
          <p:cNvSpPr/>
          <p:nvPr/>
        </p:nvSpPr>
        <p:spPr>
          <a:xfrm>
            <a:off x="9443333" y="2118362"/>
            <a:ext cx="1032377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40D3194-AF4F-85E3-EB36-64C27051F0A8}"/>
              </a:ext>
            </a:extLst>
          </p:cNvPr>
          <p:cNvSpPr/>
          <p:nvPr/>
        </p:nvSpPr>
        <p:spPr>
          <a:xfrm>
            <a:off x="10972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後端不是只「回傳字串」，而是把請求、邏輯、資料存取組織起來。</a:t>
            </a:r>
            <a:endParaRPr 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EE0D006B-BF10-CDD3-0328-E3FD477B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5146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A709E-0118-C1FF-EFDF-DD91D5FC5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97029"/>
          </a:xfrm>
        </p:spPr>
        <p:txBody>
          <a:bodyPr/>
          <a:lstStyle/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沒有分層的情況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9E5C955-30C9-77C0-9699-79244FBD0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1706" y="3372376"/>
            <a:ext cx="3701362" cy="4494908"/>
          </a:xfrm>
        </p:spPr>
        <p:txBody>
          <a:bodyPr>
            <a:normAutofit/>
          </a:bodyPr>
          <a:lstStyle/>
          <a:p>
            <a:r>
              <a:rPr lang="en-US" altLang="zh-TW" sz="14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B05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"/price/{id}"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@PathVariable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id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2000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4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)(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price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*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0.8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4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折扣後價格：</a:t>
            </a:r>
            <a:r>
              <a:rPr lang="en-US" altLang="zh-TW" sz="14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</a:t>
            </a:r>
            <a:r>
              <a:rPr lang="zh-TW" altLang="en-US" sz="14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discountPrice</a:t>
            </a:r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4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68C5ED-D4E3-B9CA-3641-E5DFE2271EF8}"/>
              </a:ext>
            </a:extLst>
          </p:cNvPr>
          <p:cNvSpPr txBox="1"/>
          <p:nvPr/>
        </p:nvSpPr>
        <p:spPr>
          <a:xfrm>
            <a:off x="1097280" y="1347537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所有責任都塞在一起，初學時常見，但非常難維護</a:t>
            </a: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3035436D-44F2-02FB-FFD3-E4C324A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C2EECF24-A585-61B5-79C1-475E2E862E6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81C20A7-79C1-51AC-FEB3-E4381F2FFC19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FE7B3DC-1792-6F3B-A944-79F526A5E772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接收請求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3C36158-AD3C-9D9E-1A09-2C06ED12EEF1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5A6EEF26-D4CC-1511-84C0-EFB8580D4C1D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處理規則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0C72457-4470-21E5-1A09-09E9B2B4F9D6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669E14-16BB-3B26-0025-EA9AC47DC167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2A0CB22-52B9-6CC3-F1EE-F67395813643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3B6633-E151-D22A-3F5A-321E0019B525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BB33B9-E754-EA49-3945-C6C9EB607130}"/>
              </a:ext>
            </a:extLst>
          </p:cNvPr>
          <p:cNvSpPr/>
          <p:nvPr/>
        </p:nvSpPr>
        <p:spPr>
          <a:xfrm>
            <a:off x="3428999" y="1931144"/>
            <a:ext cx="4233673" cy="12015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2512274-2B4E-5DF2-0AAD-CF3B983508F9}"/>
              </a:ext>
            </a:extLst>
          </p:cNvPr>
          <p:cNvSpPr txBox="1"/>
          <p:nvPr/>
        </p:nvSpPr>
        <p:spPr>
          <a:xfrm>
            <a:off x="4621877" y="1931144"/>
            <a:ext cx="322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合併在一起的話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A74666A-F888-2F0F-F97B-A494E67F203D}"/>
              </a:ext>
            </a:extLst>
          </p:cNvPr>
          <p:cNvSpPr/>
          <p:nvPr/>
        </p:nvSpPr>
        <p:spPr>
          <a:xfrm>
            <a:off x="3911680" y="4031502"/>
            <a:ext cx="3196309" cy="21032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03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7135AE-6F7A-854A-0081-5F3753BA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為什麼要學「架構」？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3CF8BF-7670-EC52-668B-CDF4FF31B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r>
              <a:rPr lang="en-US" altLang="zh-TW" b="1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zh-TW" altLang="en-US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降低程式碼耦合度</a:t>
            </a:r>
            <a: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ea"/>
              <a:buAutoNum type="arabicPeriod"/>
            </a:pPr>
            <a:r>
              <a:rPr lang="zh-TW" altLang="en-US" u="none" strike="noStrike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提高系統可維護性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提高擴展性。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解決方案：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三層式架構。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核心目標： </a:t>
            </a:r>
            <a:r>
              <a:rPr lang="zh-TW" altLang="en-US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各司其職、分工合作。</a:t>
            </a:r>
          </a:p>
          <a:p>
            <a:pPr marL="457200" indent="-457200">
              <a:buFont typeface="+mj-lt"/>
              <a:buAutoNum type="arabicPeriod"/>
            </a:pPr>
            <a:endParaRPr lang="zh-TW" altLang="en-US" b="1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3E710D-042D-8B81-38F2-A792FE18F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02B954-EF29-D3CE-CE13-1F6EAFA5A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27675"/>
            <a:ext cx="12192000" cy="27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80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624222-F1C7-725F-DEA1-DD67E0C4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層 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0B479-AC1F-F33D-41BE-82C859C73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接收前端送來的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取得前端傳來的參數或資料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層處理真正的業務邏輯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將處理結果包成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Response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回傳給前端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626D09-1F7C-06D6-A6F6-B28E7F2D6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505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EB209-7C85-EB27-4064-4887C03B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1981E8-4993-45F8-E9DA-6B1FFA4C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決定資料要怎麼被處理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取得或儲存資料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將處理結果回傳給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553C7F-22B1-B602-BAD5-6DE25D3C6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11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7609EE-125F-4BB2-4C37-636FD86C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endParaRPr lang="zh-TW" alt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D9693A-B5BC-2E87-89E6-F66738A8D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Dao / Repository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層負責：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新增資料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修改資料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刪除資料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將資料庫結果回傳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6534E-FD86-E970-596E-1AAE78D8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2883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08702-07BB-1535-F270-ED505532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48461"/>
            <a:ext cx="10058400" cy="632771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用前端概念類比後端三層</a:t>
            </a:r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6BD89D34-3BB6-BCD1-0E72-976FB26B7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7616562"/>
              </p:ext>
            </p:extLst>
          </p:nvPr>
        </p:nvGraphicFramePr>
        <p:xfrm>
          <a:off x="1096963" y="1846263"/>
          <a:ext cx="10058397" cy="3327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1949212075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294761578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560251759"/>
                    </a:ext>
                  </a:extLst>
                </a:gridCol>
              </a:tblGrid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後端層級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前端類比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0751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Controller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接收網址請求、決定入口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Router / Page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入口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969707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Service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商業邏輯、計算、判斷規則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資料整理、條件判斷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802760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Repository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取得或儲存資料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function / </a:t>
                      </a:r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資料取得函式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083102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Database</a:t>
                      </a:r>
                      <a:endParaRPr lang="zh-TW" altLang="en-US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真正儲存資料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後端資料來源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24288"/>
                  </a:ext>
                </a:extLst>
              </a:tr>
            </a:tbl>
          </a:graphicData>
        </a:graphic>
      </p:graphicFrame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96C01-BA18-FDCF-B397-5BEE0A5F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850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36332-6E4B-FA21-37AB-53FD3127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生活化比喻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——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餐廳經營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EEF221-C4A0-8350-B2C6-E4038D97F1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953" y="3525276"/>
            <a:ext cx="1866129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ef - Free food icons">
            <a:extLst>
              <a:ext uri="{FF2B5EF4-FFF2-40B4-BE49-F238E27FC236}">
                <a16:creationId xmlns:a16="http://schemas.microsoft.com/office/drawing/2014/main" id="{D49DB06F-679C-BAB6-7055-3EE9E4F3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207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reezer - Free technology icons">
            <a:extLst>
              <a:ext uri="{FF2B5EF4-FFF2-40B4-BE49-F238E27FC236}">
                <a16:creationId xmlns:a16="http://schemas.microsoft.com/office/drawing/2014/main" id="{9F83CED3-54E9-F5FC-E434-4DF90901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78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4FEA9A-DD91-651F-926F-4E644AEA31A7}"/>
              </a:ext>
            </a:extLst>
          </p:cNvPr>
          <p:cNvSpPr txBox="1"/>
          <p:nvPr/>
        </p:nvSpPr>
        <p:spPr>
          <a:xfrm>
            <a:off x="924953" y="2135421"/>
            <a:ext cx="2236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服務生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2BF4B2C-E99F-A1D9-0BF2-E90E37F4E111}"/>
              </a:ext>
            </a:extLst>
          </p:cNvPr>
          <p:cNvSpPr txBox="1"/>
          <p:nvPr/>
        </p:nvSpPr>
        <p:spPr>
          <a:xfrm>
            <a:off x="5104946" y="2150810"/>
            <a:ext cx="1507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4EC84E-D2B2-CF19-01E9-9E332C714B5B}"/>
              </a:ext>
            </a:extLst>
          </p:cNvPr>
          <p:cNvSpPr txBox="1"/>
          <p:nvPr/>
        </p:nvSpPr>
        <p:spPr>
          <a:xfrm>
            <a:off x="9035551" y="2135421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Repository/Dao</a:t>
            </a:r>
            <a:r>
              <a:rPr lang="en-US" altLang="zh-TW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</a:t>
            </a:r>
            <a:r>
              <a:rPr lang="zh-TW" altLang="en-US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冰箱</a:t>
            </a:r>
            <a:r>
              <a:rPr lang="en-US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D0EE6D7-D67A-50A5-CC52-3E408347A307}"/>
              </a:ext>
            </a:extLst>
          </p:cNvPr>
          <p:cNvSpPr txBox="1"/>
          <p:nvPr/>
        </p:nvSpPr>
        <p:spPr>
          <a:xfrm>
            <a:off x="924953" y="2597128"/>
            <a:ext cx="25723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只負責「面對客人」。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接菜單、送菜。他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不進廚房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，他只負責把需求傳進去。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AE6D9D-90B7-AC93-90A9-B664DA0E3828}"/>
              </a:ext>
            </a:extLst>
          </p:cNvPr>
          <p:cNvSpPr txBox="1"/>
          <p:nvPr/>
        </p:nvSpPr>
        <p:spPr>
          <a:xfrm>
            <a:off x="5030286" y="2579857"/>
            <a:ext cx="2572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只負責「處理食物」。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他不管客人是誰，他只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負責根據菜單把料理做好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（邏輯處理）。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A7C13F-196B-2610-986E-8307CD4D279E}"/>
              </a:ext>
            </a:extLst>
          </p:cNvPr>
          <p:cNvSpPr txBox="1"/>
          <p:nvPr/>
        </p:nvSpPr>
        <p:spPr>
          <a:xfrm>
            <a:off x="9035551" y="2562615"/>
            <a:ext cx="24802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只負責「拿食材」。</a:t>
            </a:r>
            <a:endParaRPr lang="en-US" altLang="zh-TW" sz="1400" b="0" i="0" dirty="0"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主廚說要牛肉，他</a:t>
            </a:r>
            <a:r>
              <a:rPr lang="zh-TW" altLang="en-US" sz="1400" b="1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就去冰箱拿牛肉</a:t>
            </a:r>
            <a:r>
              <a:rPr lang="zh-TW" altLang="en-US" sz="1400" b="0" i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。他不管這牛肉是要做排餐還是快炒。</a:t>
            </a:r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31B0A21C-F3D0-2625-82B9-47BB2EBE059E}"/>
              </a:ext>
            </a:extLst>
          </p:cNvPr>
          <p:cNvCxnSpPr>
            <a:cxnSpLocks/>
          </p:cNvCxnSpPr>
          <p:nvPr/>
        </p:nvCxnSpPr>
        <p:spPr>
          <a:xfrm>
            <a:off x="7483876" y="4470549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C9BA17A7-361C-5DB5-84EA-E9D3E94AEFEA}"/>
              </a:ext>
            </a:extLst>
          </p:cNvPr>
          <p:cNvCxnSpPr>
            <a:cxnSpLocks/>
          </p:cNvCxnSpPr>
          <p:nvPr/>
        </p:nvCxnSpPr>
        <p:spPr>
          <a:xfrm>
            <a:off x="3099772" y="4472028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E5B2760-CDA5-AAA2-FD89-6E09B54176BE}"/>
              </a:ext>
            </a:extLst>
          </p:cNvPr>
          <p:cNvSpPr txBox="1"/>
          <p:nvPr/>
        </p:nvSpPr>
        <p:spPr>
          <a:xfrm>
            <a:off x="3180000" y="5699649"/>
            <a:ext cx="6123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職權分離：服務生不該煮菜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主廚不該跑去資料庫翻冰箱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7FA506-6097-5FEB-43DB-964DB9E3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327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3CB226-F8A7-B99A-A22C-229AD304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組件標籤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E17C98-9B92-6326-EDD2-4F93BFBC7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 (Controller)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它是程式的門口。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Mapping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對應網址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 (Service)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它是程式的大腦。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Business Logic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業務邏輯，例如：打折、過濾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 (Repository)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它是程式的手腳。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資料庫，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CRUD)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C1B8C-1B2D-EFDE-B1AE-51C11032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76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8C27C-30BF-87C7-A1FB-EBD527833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的入口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8FABECC-73D7-D61F-DEC7-A7E32D95BEBE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 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 Request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，取得參數，並把工作交給 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endParaRPr lang="en-US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9FF4ED-FE1B-CBA3-EF4D-E7ADC2EDE043}"/>
              </a:ext>
            </a:extLst>
          </p:cNvPr>
          <p:cNvSpPr txBox="1"/>
          <p:nvPr/>
        </p:nvSpPr>
        <p:spPr>
          <a:xfrm>
            <a:off x="6443241" y="2329276"/>
            <a:ext cx="542081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</a:p>
          <a:p>
            <a:endParaRPr lang="en-US" altLang="zh-TW" b="1" dirty="0">
              <a:solidFill>
                <a:srgbClr val="00008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@Autowired</a:t>
            </a: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b="0" dirty="0">
                <a:solidFill>
                  <a:srgbClr val="7030A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reetService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	@GetMapping</a:t>
            </a:r>
            <a:r>
              <a:rPr lang="en-US" altLang="zh-TW" sz="1800" b="1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00B05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"/hello"</a:t>
            </a:r>
            <a:r>
              <a:rPr lang="en-US" altLang="zh-TW" sz="1800" b="1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	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sz="1800" b="1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</a:t>
            </a:r>
            <a:r>
              <a:rPr lang="en-US" altLang="zh-TW" sz="1800" b="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	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zh-TW" altLang="en-US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sz="1800" dirty="0"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	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2A25C-8C82-8996-9623-CB6CEA3A4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11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2B4C3862-742F-9E13-B6C4-3709C2A21ABF}"/>
              </a:ext>
            </a:extLst>
          </p:cNvPr>
          <p:cNvSpPr/>
          <p:nvPr/>
        </p:nvSpPr>
        <p:spPr>
          <a:xfrm>
            <a:off x="1220895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前端送來的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URL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Query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Body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裡的參數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呼叫對應的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將結果回傳給前端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6323D9-2DB8-AD09-5ADC-7AD8534AB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63" y="4806566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715F55B-FD4E-4C9E-4152-5CB6E9CC58FA}"/>
              </a:ext>
            </a:extLst>
          </p:cNvPr>
          <p:cNvSpPr/>
          <p:nvPr/>
        </p:nvSpPr>
        <p:spPr>
          <a:xfrm>
            <a:off x="1749778" y="5054017"/>
            <a:ext cx="1275644" cy="9234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683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3449FD-9EA7-7042-883B-CD850104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53E77BE0-8158-306B-9076-725C9F8F0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商業邏輯的大腦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9C723619-4064-730F-3856-D1FDA189EAE0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打折、判斷、計算、檢查資料，通常放在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Service。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DCC6AF6-F8DB-149B-3514-7E9A77CD0B02}"/>
              </a:ext>
            </a:extLst>
          </p:cNvPr>
          <p:cNvSpPr txBox="1"/>
          <p:nvPr/>
        </p:nvSpPr>
        <p:spPr>
          <a:xfrm>
            <a:off x="6443241" y="2344604"/>
            <a:ext cx="56441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FF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private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		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2F4B878B-A95B-A3C9-325C-9429375A2BED}"/>
              </a:ext>
            </a:extLst>
          </p:cNvPr>
          <p:cNvSpPr txBox="1">
            <a:spLocks/>
          </p:cNvSpPr>
          <p:nvPr/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pPr/>
              <a:t>12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D3F9B04B-E88F-876A-A7FB-028257905C8A}"/>
              </a:ext>
            </a:extLst>
          </p:cNvPr>
          <p:cNvSpPr/>
          <p:nvPr/>
        </p:nvSpPr>
        <p:spPr>
          <a:xfrm>
            <a:off x="1085707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該做的事✔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處理商業邏輯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檢查資料是否符合規則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進行計算或條件判斷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呼叫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取得資料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將處理後的結果回傳給 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4D985-E678-B5FB-D1A9-48929F7C8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63" y="4806566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5455F51-93B0-90D1-7EC5-62ABA9513AC0}"/>
              </a:ext>
            </a:extLst>
          </p:cNvPr>
          <p:cNvSpPr/>
          <p:nvPr/>
        </p:nvSpPr>
        <p:spPr>
          <a:xfrm>
            <a:off x="3059288" y="5054017"/>
            <a:ext cx="970845" cy="8162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333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58AE70-8662-F959-65F0-345E4D31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：資料存取的窗口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00207A-0799-F833-7016-3570D06A6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8AB173-3F0F-7B30-F81E-BCCBB5CD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fld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DC2BE4B-6F31-E673-C1E5-886C9573B67B}"/>
              </a:ext>
            </a:extLst>
          </p:cNvPr>
          <p:cNvSpPr/>
          <p:nvPr/>
        </p:nvSpPr>
        <p:spPr>
          <a:xfrm>
            <a:off x="1127761" y="2397284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該做的事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✔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取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得資料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新增、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修改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、刪除資料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把資料來源封裝起來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將查詢結果回傳給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DFFD2A-5763-599E-EEC3-19B173F486C8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查詢、儲存、修改、刪除資料，通常放在 </a:t>
            </a:r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Repository/DAO</a:t>
            </a:r>
            <a:r>
              <a:rPr lang="zh-TW" altLang="en-US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A5FA0C-E404-B8F9-D2C5-EF4D41C78432}"/>
              </a:ext>
            </a:extLst>
          </p:cNvPr>
          <p:cNvSpPr txBox="1"/>
          <p:nvPr/>
        </p:nvSpPr>
        <p:spPr>
          <a:xfrm>
            <a:off x="6440418" y="2191239"/>
            <a:ext cx="54208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rgbClr val="7030A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 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		</a:t>
            </a:r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// </a:t>
            </a:r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1CA3E892-9ECF-DBBB-8DD3-1CEDC19B4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663" y="4806566"/>
            <a:ext cx="5907578" cy="1328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85A0B4AA-6F30-B7B1-D192-7C5800016D76}"/>
              </a:ext>
            </a:extLst>
          </p:cNvPr>
          <p:cNvSpPr/>
          <p:nvPr/>
        </p:nvSpPr>
        <p:spPr>
          <a:xfrm>
            <a:off x="4267201" y="5054017"/>
            <a:ext cx="970845" cy="8162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633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97AA06-2ACE-6F04-9873-80AAC6CE0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課堂練習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：請判斷登入功能該怎麼分層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37A69A-E968-D817-3C63-B7220EC6B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/>
          <a:lstStyle/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/v1/login</a:t>
            </a:r>
          </a:p>
          <a:p>
            <a:pPr lvl="1"/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JSON:</a:t>
            </a:r>
          </a:p>
          <a:p>
            <a:pPr marL="201168" lvl="1" indent="0">
              <a:buNone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"account": Cathay",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"password": "caca67"</a:t>
            </a:r>
            <a:b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914934-45D2-1227-0152-43DDE40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14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55EEBAC-D1FB-80E3-108C-056CD6A9E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34012"/>
              </p:ext>
            </p:extLst>
          </p:nvPr>
        </p:nvGraphicFramePr>
        <p:xfrm>
          <a:off x="4680977" y="2361015"/>
          <a:ext cx="6876022" cy="2759626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438011">
                  <a:extLst>
                    <a:ext uri="{9D8B030D-6E8A-4147-A177-3AD203B41FA5}">
                      <a16:colId xmlns:a16="http://schemas.microsoft.com/office/drawing/2014/main" val="666982291"/>
                    </a:ext>
                  </a:extLst>
                </a:gridCol>
                <a:gridCol w="3438011">
                  <a:extLst>
                    <a:ext uri="{9D8B030D-6E8A-4147-A177-3AD203B41FA5}">
                      <a16:colId xmlns:a16="http://schemas.microsoft.com/office/drawing/2014/main" val="2565477661"/>
                    </a:ext>
                  </a:extLst>
                </a:gridCol>
              </a:tblGrid>
              <a:tr h="32891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工作內容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  <a:endParaRPr lang="en-US" altLang="zh-TW" sz="1200" dirty="0"/>
                    </a:p>
                    <a:p>
                      <a:r>
                        <a:rPr lang="en-US" altLang="zh-TW" sz="1200" dirty="0"/>
                        <a:t>(Controller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Service</a:t>
                      </a:r>
                      <a:r>
                        <a:rPr lang="zh-TW" altLang="en-US" sz="1200" dirty="0"/>
                        <a:t>、</a:t>
                      </a:r>
                      <a:r>
                        <a:rPr lang="en-US" altLang="zh-TW" sz="1200" dirty="0"/>
                        <a:t>Repository/DAO)</a:t>
                      </a:r>
                      <a:endParaRPr lang="zh-TW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37275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1. </a:t>
                      </a:r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v1/login </a:t>
                      </a:r>
                      <a:r>
                        <a:rPr lang="zh-TW" altLang="en-US" sz="1200" dirty="0"/>
                        <a:t>請求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360663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2. </a:t>
                      </a:r>
                      <a:r>
                        <a:rPr lang="zh-TW" altLang="en-US" sz="1200" dirty="0"/>
                        <a:t>取得 </a:t>
                      </a:r>
                      <a:r>
                        <a:rPr lang="en-US" sz="1200" dirty="0"/>
                        <a:t>request body </a:t>
                      </a:r>
                      <a:r>
                        <a:rPr lang="zh-TW" altLang="en-US" sz="1200" dirty="0"/>
                        <a:t>裡的 </a:t>
                      </a:r>
                      <a:r>
                        <a:rPr lang="en-US" sz="1200" dirty="0" err="1"/>
                        <a:t>account、password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22641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3. </a:t>
                      </a:r>
                      <a:r>
                        <a:rPr lang="zh-TW" altLang="en-US" sz="1200" dirty="0"/>
                        <a:t>檢查 </a:t>
                      </a:r>
                      <a:r>
                        <a:rPr lang="en-US" sz="1200" dirty="0" err="1"/>
                        <a:t>account、password</a:t>
                      </a:r>
                      <a:r>
                        <a:rPr lang="en-US" sz="1200" dirty="0"/>
                        <a:t> </a:t>
                      </a:r>
                      <a:r>
                        <a:rPr lang="zh-TW" altLang="en-US" sz="1200" dirty="0"/>
                        <a:t>是否為空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4532228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4. </a:t>
                      </a:r>
                      <a:r>
                        <a:rPr lang="zh-TW" altLang="en-US" sz="1200" dirty="0"/>
                        <a:t>根據 </a:t>
                      </a:r>
                      <a:r>
                        <a:rPr lang="en-US" sz="1200" dirty="0"/>
                        <a:t>account </a:t>
                      </a:r>
                      <a:r>
                        <a:rPr lang="zh-TW" altLang="en-US" sz="1200" dirty="0"/>
                        <a:t>查詢使用者資料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Repository/DAO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4909439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5. </a:t>
                      </a:r>
                      <a:r>
                        <a:rPr lang="zh-TW" altLang="en-US" sz="1200" dirty="0"/>
                        <a:t>比對密碼是否正確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0781905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6. </a:t>
                      </a:r>
                      <a:r>
                        <a:rPr lang="zh-TW" altLang="en-US" sz="1200" dirty="0"/>
                        <a:t>決定登入成功或失敗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334"/>
                  </a:ext>
                </a:extLst>
              </a:tr>
              <a:tr h="32891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7. </a:t>
                      </a:r>
                      <a:r>
                        <a:rPr lang="zh-TW" altLang="en-US" sz="1200" dirty="0"/>
                        <a:t>回傳登入結果給前端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655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DDF9A1-2EF0-E3D0-B4C6-EAD615D84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課堂練習</a:t>
            </a:r>
            <a:r>
              <a:rPr lang="en-US" altLang="zh-TW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：購物車結帳功能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D5195A-99BB-307C-3614-56CB75BF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z="1000" smtClean="0">
                <a:latin typeface="標楷體" panose="03000509000000000000" pitchFamily="65" charset="-120"/>
                <a:ea typeface="標楷體" panose="03000509000000000000" pitchFamily="65" charset="-120"/>
              </a:rPr>
              <a:t>15</a:t>
            </a:fld>
            <a:endParaRPr lang="zh-TW" altLang="en-US" sz="100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EE3A74E-2D84-0256-D9AE-7AFE7E848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前端呼叫：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POST /v1/cart/checkout</a:t>
            </a:r>
          </a:p>
          <a:p>
            <a:pPr marL="201168" lvl="1" indent="0">
              <a:buNone/>
            </a:pP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JSON: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userId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</a:t>
            </a:r>
            <a:r>
              <a:rPr lang="en-US" altLang="zh-TW" dirty="0">
                <a:solidFill>
                  <a:schemeClr val="accent2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"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cartId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": </a:t>
            </a:r>
            <a:r>
              <a:rPr lang="en-US" altLang="zh-TW" dirty="0">
                <a:solidFill>
                  <a:schemeClr val="accent2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1001</a:t>
            </a:r>
          </a:p>
          <a:p>
            <a:pPr marL="201168" lvl="1" indent="0">
              <a:buNone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7CA4BA9-34B0-8D8C-8CCA-4D30D47E4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6611012"/>
              </p:ext>
            </p:extLst>
          </p:nvPr>
        </p:nvGraphicFramePr>
        <p:xfrm>
          <a:off x="4571999" y="1845734"/>
          <a:ext cx="7179732" cy="4165598"/>
        </p:xfrm>
        <a:graphic>
          <a:graphicData uri="http://schemas.openxmlformats.org/drawingml/2006/table">
            <a:tbl>
              <a:tblPr/>
              <a:tblGrid>
                <a:gridCol w="2393244">
                  <a:extLst>
                    <a:ext uri="{9D8B030D-6E8A-4147-A177-3AD203B41FA5}">
                      <a16:colId xmlns:a16="http://schemas.microsoft.com/office/drawing/2014/main" val="234851564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3765625656"/>
                    </a:ext>
                  </a:extLst>
                </a:gridCol>
                <a:gridCol w="2393244">
                  <a:extLst>
                    <a:ext uri="{9D8B030D-6E8A-4147-A177-3AD203B41FA5}">
                      <a16:colId xmlns:a16="http://schemas.microsoft.com/office/drawing/2014/main" val="827445611"/>
                    </a:ext>
                  </a:extLst>
                </a:gridCol>
              </a:tblGrid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程式行為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是否適合放在 </a:t>
                      </a:r>
                      <a:r>
                        <a:rPr lang="en-US" sz="1200" dirty="0"/>
                        <a:t>Controller？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應該放哪一層？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453713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接收 </a:t>
                      </a:r>
                      <a:r>
                        <a:rPr lang="en-US" altLang="zh-TW" sz="1200" dirty="0"/>
                        <a:t>/</a:t>
                      </a:r>
                      <a:r>
                        <a:rPr lang="en-US" sz="1200" dirty="0"/>
                        <a:t>v1/cart/checkout API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686796"/>
                  </a:ext>
                </a:extLst>
              </a:tr>
              <a:tr h="53405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取得前端傳來的 </a:t>
                      </a:r>
                      <a:r>
                        <a:rPr lang="en-US" sz="1200" dirty="0" err="1"/>
                        <a:t>userId、cartId</a:t>
                      </a:r>
                      <a:endParaRPr lang="en-US" sz="1200" dirty="0"/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468038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查詢購物車內容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 dirty="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263749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判斷購物車是否為空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10370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計算商品總金額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404400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判斷庫存是否足夠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  <a:endParaRPr lang="zh-TW" alt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7015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更新商品庫存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24400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建立訂單資料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Service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763622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儲存訂單到資料庫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不適合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DAO / Repository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645664"/>
                  </a:ext>
                </a:extLst>
              </a:tr>
              <a:tr h="320428">
                <a:tc>
                  <a:txBody>
                    <a:bodyPr/>
                    <a:lstStyle/>
                    <a:p>
                      <a:r>
                        <a:rPr lang="zh-TW" altLang="en-US" sz="1200"/>
                        <a:t>回傳結帳成功或失敗結果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200">
                          <a:solidFill>
                            <a:schemeClr val="bg1"/>
                          </a:solidFill>
                        </a:rPr>
                        <a:t>適合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Controller</a:t>
                      </a:r>
                    </a:p>
                  </a:txBody>
                  <a:tcPr marL="91426" marR="91426" marT="45713" marB="457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889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26744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3703</TotalTime>
  <Words>2440</Words>
  <Application>Microsoft Office PowerPoint</Application>
  <PresentationFormat>寬螢幕</PresentationFormat>
  <Paragraphs>286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2" baseType="lpstr">
      <vt:lpstr>標楷體</vt:lpstr>
      <vt:lpstr>Aptos</vt:lpstr>
      <vt:lpstr>Arial</vt:lpstr>
      <vt:lpstr>Calibri</vt:lpstr>
      <vt:lpstr>Calibri Light</vt:lpstr>
      <vt:lpstr>Times New Roman</vt:lpstr>
      <vt:lpstr>回顧</vt:lpstr>
      <vt:lpstr>從前端思維理解 Spring Boot 三層架構 Spring Boot 3-Layer Architecture 入門</vt:lpstr>
      <vt:lpstr>後端收到請求後，會怎麼處理？</vt:lpstr>
      <vt:lpstr>沒有分層的情況</vt:lpstr>
      <vt:lpstr>為什麼要學「架構」？</vt:lpstr>
      <vt:lpstr>Controller 層 </vt:lpstr>
      <vt:lpstr>Service 層</vt:lpstr>
      <vt:lpstr>Dao / Repository層</vt:lpstr>
      <vt:lpstr>用前端概念類比後端三層</vt:lpstr>
      <vt:lpstr>生活化比喻 —— 餐廳經營</vt:lpstr>
      <vt:lpstr>組件標籤</vt:lpstr>
      <vt:lpstr>Controller : 後端API的入口</vt:lpstr>
      <vt:lpstr>Service : 商業邏輯的大腦</vt:lpstr>
      <vt:lpstr>Repository：資料存取的窗口 </vt:lpstr>
      <vt:lpstr>課堂練習 1：請判斷登入功能該怎麼分層</vt:lpstr>
      <vt:lpstr>課堂練習2：購物車結帳功能</vt:lpstr>
    </vt:vector>
  </TitlesOfParts>
  <Company>Cathay Century Insurance CO.,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Boot 三層架構 (3-Layer Architecture)</dc:title>
  <dc:creator>陳禹翔 Grant</dc:creator>
  <cp:lastModifiedBy>陳禹翔 Grant</cp:lastModifiedBy>
  <cp:revision>110</cp:revision>
  <dcterms:created xsi:type="dcterms:W3CDTF">2026-04-02T03:27:48Z</dcterms:created>
  <dcterms:modified xsi:type="dcterms:W3CDTF">2026-05-28T07:09:59Z</dcterms:modified>
</cp:coreProperties>
</file>