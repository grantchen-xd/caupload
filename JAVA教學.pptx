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notesMasterIdLst>
    <p:notesMasterId r:id="rId17"/>
  </p:notesMasterIdLst>
  <p:sldIdLst>
    <p:sldId id="256" r:id="rId2"/>
    <p:sldId id="265" r:id="rId3"/>
    <p:sldId id="257" r:id="rId4"/>
    <p:sldId id="266" r:id="rId5"/>
    <p:sldId id="267" r:id="rId6"/>
    <p:sldId id="268" r:id="rId7"/>
    <p:sldId id="258" r:id="rId8"/>
    <p:sldId id="259" r:id="rId9"/>
    <p:sldId id="269" r:id="rId10"/>
    <p:sldId id="270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48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74780-3BA8-45C4-96B3-E4DA451B952B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C28FB-98DF-4E7F-9559-D67F5677BAF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7604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5E44A-94B5-43C4-BB6C-4A8F3857A577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98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F1AB7-5BA6-42EC-B258-377FF983CCDC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817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50947-74BA-4B86-BBDD-46EB9546B05B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9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845-7DB9-4882-8BCA-BEBC60C4F1CA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238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F5547-D445-4140-B4D8-D417023010DC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524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CC906-FAD7-406D-8B41-F05834A6D322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35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127CE-C26B-4985-A695-176B12DD8B89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34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9E4DAFE-EFBD-4BAE-850E-58780F5B136C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68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C0808-BD55-469A-BAD8-0715C7D54B5B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6486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00FA-AFC3-4BAC-BDAE-9776C9140ED1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024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985F-8055-49BF-8CBF-EB3F21728F16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0998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6922D4-3686-4F7E-B9A4-F36143A46421}" type="datetime1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7D5BEE6-8A42-470F-9B73-3A0C6CCA84ED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0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6BCF52-7B48-9E17-1DA4-723CF6751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051" y="2072755"/>
            <a:ext cx="10058400" cy="1939410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從前端思維理解 </a:t>
            </a: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三層架構</a:t>
            </a:r>
            <a:b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3-Layer Architecture </a:t>
            </a:r>
            <a:r>
              <a:rPr lang="zh-TW" altLang="en-US" sz="66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入門</a:t>
            </a:r>
            <a:endParaRPr lang="zh-TW" altLang="en-US" sz="6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AC19F36-AC20-5732-5E9E-D979BEC33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Controller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Service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Repository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如何分工？</a:t>
            </a:r>
            <a:endParaRPr lang="en-US" altLang="zh-TW" b="1" i="0" dirty="0">
              <a:solidFill>
                <a:schemeClr val="tx1"/>
              </a:solidFill>
              <a:effectLst/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br>
              <a: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b="1" i="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講師：陳禹翔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C86EE9-13E6-27CB-5321-A726A497C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6414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5FA1D-36F5-1C39-D35A-6B448F2C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後端到底在幹嘛</a:t>
            </a:r>
            <a:r>
              <a:rPr lang="en-US" altLang="zh-TW" dirty="0"/>
              <a:t>?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B8656-3A18-63CB-FBA6-E0D6FB70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92F6EA4-4FD7-DFDF-5C33-2DE2EDA81FB1}"/>
              </a:ext>
            </a:extLst>
          </p:cNvPr>
          <p:cNvSpPr/>
          <p:nvPr/>
        </p:nvSpPr>
        <p:spPr>
          <a:xfrm>
            <a:off x="685800" y="2240280"/>
            <a:ext cx="205740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HTTP Request</a:t>
            </a:r>
            <a:endParaRPr lang="en-US" sz="150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FB79497-5FBC-0B3F-2CF3-2EE80C759BE4}"/>
              </a:ext>
            </a:extLst>
          </p:cNvPr>
          <p:cNvSpPr/>
          <p:nvPr/>
        </p:nvSpPr>
        <p:spPr>
          <a:xfrm>
            <a:off x="2834640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C9E1570-FAE6-7C33-2DB9-DA15C9620597}"/>
              </a:ext>
            </a:extLst>
          </p:cNvPr>
          <p:cNvSpPr/>
          <p:nvPr/>
        </p:nvSpPr>
        <p:spPr>
          <a:xfrm>
            <a:off x="3520440" y="2240280"/>
            <a:ext cx="1600200" cy="82296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接收請求</a:t>
            </a:r>
            <a:endParaRPr lang="en-US" sz="15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50546A4-B5B1-2479-0B1A-E0DCD056106D}"/>
              </a:ext>
            </a:extLst>
          </p:cNvPr>
          <p:cNvSpPr/>
          <p:nvPr/>
        </p:nvSpPr>
        <p:spPr>
          <a:xfrm>
            <a:off x="523036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0A4535A-F7A9-EBA0-3628-82B7A74CA828}"/>
              </a:ext>
            </a:extLst>
          </p:cNvPr>
          <p:cNvSpPr/>
          <p:nvPr/>
        </p:nvSpPr>
        <p:spPr>
          <a:xfrm>
            <a:off x="5943600" y="2240280"/>
            <a:ext cx="1600200" cy="82296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處理規則</a:t>
            </a:r>
            <a:endParaRPr lang="en-US" sz="1500" dirty="0"/>
          </a:p>
        </p:txBody>
      </p:sp>
      <p:sp>
        <p:nvSpPr>
          <p:cNvPr id="9" name="Shape 10">
            <a:extLst>
              <a:ext uri="{FF2B5EF4-FFF2-40B4-BE49-F238E27FC236}">
                <a16:creationId xmlns:a16="http://schemas.microsoft.com/office/drawing/2014/main" id="{8DB2FBCC-2E56-881A-5221-8FA2C309C80A}"/>
              </a:ext>
            </a:extLst>
          </p:cNvPr>
          <p:cNvSpPr/>
          <p:nvPr/>
        </p:nvSpPr>
        <p:spPr>
          <a:xfrm>
            <a:off x="7662672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AE4C304B-DE93-B66F-4CF6-FBF63402B17D}"/>
              </a:ext>
            </a:extLst>
          </p:cNvPr>
          <p:cNvSpPr/>
          <p:nvPr/>
        </p:nvSpPr>
        <p:spPr>
          <a:xfrm>
            <a:off x="8366760" y="2240280"/>
            <a:ext cx="1600200" cy="82296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取得資料</a:t>
            </a:r>
            <a:endParaRPr lang="en-US" sz="150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7A3F3FF8-D6ED-A43E-F9C3-A0605C2366AB}"/>
              </a:ext>
            </a:extLst>
          </p:cNvPr>
          <p:cNvSpPr/>
          <p:nvPr/>
        </p:nvSpPr>
        <p:spPr>
          <a:xfrm>
            <a:off x="10076688" y="2651760"/>
            <a:ext cx="59436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99DACFB6-B027-E07C-C8EF-2371FB5B8847}"/>
              </a:ext>
            </a:extLst>
          </p:cNvPr>
          <p:cNvSpPr/>
          <p:nvPr/>
        </p:nvSpPr>
        <p:spPr>
          <a:xfrm>
            <a:off x="10789920" y="2240280"/>
            <a:ext cx="960120" cy="822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回傳結果</a:t>
            </a:r>
            <a:endParaRPr lang="en-US" sz="15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840D3194-AF4F-85E3-EB36-64C27051F0A8}"/>
              </a:ext>
            </a:extLst>
          </p:cNvPr>
          <p:cNvSpPr/>
          <p:nvPr/>
        </p:nvSpPr>
        <p:spPr>
          <a:xfrm>
            <a:off x="1097280" y="4434840"/>
            <a:ext cx="10058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後端不是只「回傳字串」，而是把請求、邏輯、資料存取組織起來。</a:t>
            </a:r>
            <a:endParaRPr lang="en-US" sz="2400" dirty="0"/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EE0D006B-BF10-CDD3-0328-E3FD477B5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5146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7135AE-6F7A-854A-0081-5F3753BA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為什麼要學「架構」？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3CF8BF-7670-EC52-668B-CDF4FF31B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痛點：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如果把所有的程式碼（接收請求、檢查資料、存資料庫）全寫在一起會怎樣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？</a:t>
            </a:r>
            <a:endParaRPr lang="zh-TW" altLang="en-US" b="0" i="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程式碼變得很長，像「義大利麵」一樣捲在一起。</a:t>
            </a:r>
          </a:p>
          <a:p>
            <a:pPr marL="800100" lvl="1" indent="-342900">
              <a:buFont typeface="+mj-ea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很難修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Bug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（牽一髮而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動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全身）。</a:t>
            </a:r>
          </a:p>
          <a:p>
            <a:pPr marL="800100" lvl="1" indent="-342900">
              <a:buFont typeface="+mj-ea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無法重複使用功能。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解決方案：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三層架構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(Decoupling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耦合解法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核心目標：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各司其職、分工合作。</a:t>
            </a:r>
          </a:p>
          <a:p>
            <a:pPr marL="457200" indent="-457200">
              <a:buFont typeface="+mj-lt"/>
              <a:buAutoNum type="arabicPeriod"/>
            </a:pP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3E710D-042D-8B81-38F2-A792FE18F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807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A709E-0118-C1FF-EFDF-DD91D5FC5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97029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沒有分層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義大利麵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9E5C955-30C9-77C0-9699-79244FBD0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5098983" cy="4494908"/>
          </a:xfrm>
        </p:spPr>
        <p:txBody>
          <a:bodyPr>
            <a:normAutofit/>
          </a:bodyPr>
          <a:lstStyle/>
          <a:p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@GetMapping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"/price/{id}"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String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getPrice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@PathVariable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id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price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id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price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id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price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discountPrice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)(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price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FF8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TW" altLang="en-US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折扣後價格：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discountPrice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68C5ED-D4E3-B9CA-3641-E5DFE2271EF8}"/>
              </a:ext>
            </a:extLst>
          </p:cNvPr>
          <p:cNvSpPr txBox="1"/>
          <p:nvPr/>
        </p:nvSpPr>
        <p:spPr>
          <a:xfrm>
            <a:off x="1097280" y="1347537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altLang="zh-TW" sz="1800" dirty="0" err="1">
                <a:solidFill>
                  <a:srgbClr val="5F6B7A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所有責任都塞在一起，初學時常見，但非常難維護</a:t>
            </a:r>
            <a:r>
              <a:rPr lang="en-US" altLang="zh-TW" sz="1800" dirty="0">
                <a:solidFill>
                  <a:srgbClr val="5F6B7A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。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FC72FAC-FF9F-710F-2D24-6F1A152AAFA9}"/>
              </a:ext>
            </a:extLst>
          </p:cNvPr>
          <p:cNvSpPr txBox="1"/>
          <p:nvPr/>
        </p:nvSpPr>
        <p:spPr>
          <a:xfrm>
            <a:off x="6591092" y="1845734"/>
            <a:ext cx="49110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問題在哪</a:t>
            </a:r>
            <a:r>
              <a:rPr lang="en-US" altLang="zh-TW" dirty="0"/>
              <a:t>?</a:t>
            </a:r>
          </a:p>
          <a:p>
            <a:r>
              <a:rPr lang="en-US" altLang="zh-TW" dirty="0"/>
              <a:t>Controller</a:t>
            </a:r>
            <a:r>
              <a:rPr lang="zh-TW" altLang="en-US" dirty="0"/>
              <a:t>同時負責</a:t>
            </a:r>
            <a:r>
              <a:rPr lang="en-US" altLang="zh-TW" dirty="0"/>
              <a:t>:</a:t>
            </a:r>
            <a:br>
              <a:rPr lang="en-US" altLang="zh-TW" dirty="0"/>
            </a:br>
            <a:r>
              <a:rPr lang="zh-TW" altLang="en-US" dirty="0"/>
              <a:t>接收網址</a:t>
            </a:r>
            <a:br>
              <a:rPr lang="en-US" altLang="zh-TW" dirty="0"/>
            </a:br>
            <a:r>
              <a:rPr lang="zh-TW" altLang="en-US" dirty="0"/>
              <a:t>準備資料</a:t>
            </a:r>
            <a:br>
              <a:rPr lang="en-US" altLang="zh-TW" dirty="0"/>
            </a:br>
            <a:r>
              <a:rPr lang="zh-TW" altLang="en-US" dirty="0"/>
              <a:t>計算折扣</a:t>
            </a:r>
            <a:br>
              <a:rPr lang="en-US" altLang="zh-TW" dirty="0"/>
            </a:br>
            <a:r>
              <a:rPr lang="zh-TW" altLang="en-US" dirty="0"/>
              <a:t>回傳文字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責任混再一起，功能越長越難改</a:t>
            </a: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3035436D-44F2-02FB-FFD3-E4C324AA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703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41E0AA-6340-CB47-F901-4E0253FAB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438914"/>
            <a:ext cx="10058400" cy="777240"/>
          </a:xfrm>
        </p:spPr>
        <p:txBody>
          <a:bodyPr/>
          <a:lstStyle/>
          <a:p>
            <a:r>
              <a:rPr lang="zh-TW" altLang="en-US" dirty="0"/>
              <a:t>三層架構總覽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8E5EF3D-4D89-E66C-6247-81F57C66BFFF}"/>
              </a:ext>
            </a:extLst>
          </p:cNvPr>
          <p:cNvSpPr/>
          <p:nvPr/>
        </p:nvSpPr>
        <p:spPr>
          <a:xfrm>
            <a:off x="502920" y="6510528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F6B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三層架構</a:t>
            </a:r>
            <a:endParaRPr lang="en-US" sz="8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4CF7FFA-03C9-C895-4D99-EB8882D9802D}"/>
              </a:ext>
            </a:extLst>
          </p:cNvPr>
          <p:cNvSpPr/>
          <p:nvPr/>
        </p:nvSpPr>
        <p:spPr>
          <a:xfrm>
            <a:off x="11292840" y="6455664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CDE5066-4070-5F60-F9F0-AD8A14611446}"/>
              </a:ext>
            </a:extLst>
          </p:cNvPr>
          <p:cNvSpPr/>
          <p:nvPr/>
        </p:nvSpPr>
        <p:spPr>
          <a:xfrm>
            <a:off x="822960" y="2331720"/>
            <a:ext cx="1828800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B9C4C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Client / Browser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發出請求</a:t>
            </a:r>
            <a:endParaRPr lang="en-US" sz="15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C6FF17-34EF-E357-EEB3-054D031059BA}"/>
              </a:ext>
            </a:extLst>
          </p:cNvPr>
          <p:cNvSpPr/>
          <p:nvPr/>
        </p:nvSpPr>
        <p:spPr>
          <a:xfrm>
            <a:off x="2743200" y="2724912"/>
            <a:ext cx="64008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14C3C02-BFE5-15AF-70B8-8D1F0BD5AF8F}"/>
              </a:ext>
            </a:extLst>
          </p:cNvPr>
          <p:cNvSpPr/>
          <p:nvPr/>
        </p:nvSpPr>
        <p:spPr>
          <a:xfrm>
            <a:off x="3520440" y="2240280"/>
            <a:ext cx="1874520" cy="960120"/>
          </a:xfrm>
          <a:prstGeom prst="rect">
            <a:avLst/>
          </a:prstGeom>
          <a:solidFill>
            <a:srgbClr val="DDF4F6"/>
          </a:solidFill>
          <a:ln w="15240">
            <a:solidFill>
              <a:srgbClr val="168A9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Controller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接收請求</a:t>
            </a:r>
            <a:endParaRPr lang="en-US" sz="160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2BAD08C7-A7FD-7E7B-A5C9-49F25988295E}"/>
              </a:ext>
            </a:extLst>
          </p:cNvPr>
          <p:cNvSpPr/>
          <p:nvPr/>
        </p:nvSpPr>
        <p:spPr>
          <a:xfrm>
            <a:off x="5486400" y="2724912"/>
            <a:ext cx="50292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B4F825C4-2299-4271-AF85-6F2E512172AE}"/>
              </a:ext>
            </a:extLst>
          </p:cNvPr>
          <p:cNvSpPr/>
          <p:nvPr/>
        </p:nvSpPr>
        <p:spPr>
          <a:xfrm>
            <a:off x="6126480" y="2240280"/>
            <a:ext cx="1874520" cy="960120"/>
          </a:xfrm>
          <a:prstGeom prst="rect">
            <a:avLst/>
          </a:prstGeom>
          <a:solidFill>
            <a:srgbClr val="FFF3CF"/>
          </a:solidFill>
          <a:ln w="15240">
            <a:solidFill>
              <a:srgbClr val="F29F0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Service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處理邏輯</a:t>
            </a:r>
            <a:endParaRPr lang="en-US" sz="16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0346B1C-F821-B022-3F05-677812CBEDEE}"/>
              </a:ext>
            </a:extLst>
          </p:cNvPr>
          <p:cNvSpPr/>
          <p:nvPr/>
        </p:nvSpPr>
        <p:spPr>
          <a:xfrm>
            <a:off x="8092440" y="2724912"/>
            <a:ext cx="50292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0219F5D5-9214-BF3F-2B09-4863E2D46371}"/>
              </a:ext>
            </a:extLst>
          </p:cNvPr>
          <p:cNvSpPr/>
          <p:nvPr/>
        </p:nvSpPr>
        <p:spPr>
          <a:xfrm>
            <a:off x="8732520" y="2240280"/>
            <a:ext cx="1874520" cy="960120"/>
          </a:xfrm>
          <a:prstGeom prst="rect">
            <a:avLst/>
          </a:prstGeom>
          <a:solidFill>
            <a:srgbClr val="EDF7EF"/>
          </a:solidFill>
          <a:ln w="15240">
            <a:solidFill>
              <a:srgbClr val="2F8F5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Repository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存取資料</a:t>
            </a:r>
            <a:endParaRPr lang="en-US" sz="16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D6AD1C9-7248-AF55-95A3-FEC4427D997A}"/>
              </a:ext>
            </a:extLst>
          </p:cNvPr>
          <p:cNvSpPr/>
          <p:nvPr/>
        </p:nvSpPr>
        <p:spPr>
          <a:xfrm>
            <a:off x="10698480" y="2724912"/>
            <a:ext cx="457200" cy="0"/>
          </a:xfrm>
          <a:prstGeom prst="line">
            <a:avLst/>
          </a:prstGeom>
          <a:noFill/>
          <a:ln w="19050">
            <a:solidFill>
              <a:srgbClr val="B9C4CF"/>
            </a:solidFill>
            <a:prstDash val="solid"/>
            <a:headEnd type="none"/>
            <a:tailEnd type="triangle"/>
          </a:ln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080D495-41CA-076E-A41C-3DEAFA01609A}"/>
              </a:ext>
            </a:extLst>
          </p:cNvPr>
          <p:cNvSpPr/>
          <p:nvPr/>
        </p:nvSpPr>
        <p:spPr>
          <a:xfrm>
            <a:off x="11173968" y="2240280"/>
            <a:ext cx="7772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2A47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Database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79CCD268-13E7-67B6-F19F-BDE41ABDFEEE}"/>
              </a:ext>
            </a:extLst>
          </p:cNvPr>
          <p:cNvSpPr/>
          <p:nvPr/>
        </p:nvSpPr>
        <p:spPr>
          <a:xfrm>
            <a:off x="1005840" y="4617720"/>
            <a:ext cx="1005840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E2A4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口訣：Controller 接、Service 算、Repository 拿。</a:t>
            </a:r>
            <a:endParaRPr lang="en-US" sz="26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6522A39-591E-CF08-3FFE-D88AFD4ABB24}"/>
              </a:ext>
            </a:extLst>
          </p:cNvPr>
          <p:cNvSpPr txBox="1"/>
          <p:nvPr/>
        </p:nvSpPr>
        <p:spPr>
          <a:xfrm>
            <a:off x="1097280" y="1322308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5F6B7A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把後端責任切成三層：入口、邏輯、資料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" name="投影片編號版面配置區 19">
            <a:extLst>
              <a:ext uri="{FF2B5EF4-FFF2-40B4-BE49-F238E27FC236}">
                <a16:creationId xmlns:a16="http://schemas.microsoft.com/office/drawing/2014/main" id="{624EC6AE-A9EC-C098-7A62-68EC67292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02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D08702-07BB-1535-F270-ED505532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48461"/>
            <a:ext cx="10058400" cy="632771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用前端概念類比後端三層</a:t>
            </a:r>
          </a:p>
        </p:txBody>
      </p:sp>
      <p:graphicFrame>
        <p:nvGraphicFramePr>
          <p:cNvPr id="6" name="內容版面配置區 5">
            <a:extLst>
              <a:ext uri="{FF2B5EF4-FFF2-40B4-BE49-F238E27FC236}">
                <a16:creationId xmlns:a16="http://schemas.microsoft.com/office/drawing/2014/main" id="{6BD89D34-3BB6-BCD1-0E72-976FB26B73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8787861"/>
              </p:ext>
            </p:extLst>
          </p:nvPr>
        </p:nvGraphicFramePr>
        <p:xfrm>
          <a:off x="1096963" y="1846263"/>
          <a:ext cx="10058397" cy="3327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799">
                  <a:extLst>
                    <a:ext uri="{9D8B030D-6E8A-4147-A177-3AD203B41FA5}">
                      <a16:colId xmlns:a16="http://schemas.microsoft.com/office/drawing/2014/main" val="1949212075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294761578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560251759"/>
                    </a:ext>
                  </a:extLst>
                </a:gridCol>
              </a:tblGrid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後端階級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負責工作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前端類比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640751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Contorller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接收網址請求、決定入口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Router / Page</a:t>
                      </a:r>
                      <a:r>
                        <a:rPr lang="zh-TW" altLang="en-US" dirty="0"/>
                        <a:t>入口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969707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Service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商業邏輯、計算、判斷規則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資料整理、條件判斷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802760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Respoitory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取得或儲存資料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API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function / </a:t>
                      </a:r>
                      <a:r>
                        <a:rPr lang="zh-TW" altLang="en-US" dirty="0"/>
                        <a:t>資料取得函式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083102"/>
                  </a:ext>
                </a:extLst>
              </a:tr>
              <a:tr h="665463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Database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真正儲存資料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後端資料來源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24288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FF8F4189-6AC4-CC8F-E517-FA7999C38BF4}"/>
              </a:ext>
            </a:extLst>
          </p:cNvPr>
          <p:cNvSpPr txBox="1"/>
          <p:nvPr/>
        </p:nvSpPr>
        <p:spPr>
          <a:xfrm>
            <a:off x="1097280" y="1279622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TW" sz="1800" dirty="0" err="1">
                <a:solidFill>
                  <a:srgbClr val="5F6B7A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只是類比，不代表兩邊完全相同</a:t>
            </a:r>
            <a:r>
              <a:rPr lang="en-US" altLang="zh-TW" sz="1800" dirty="0">
                <a:solidFill>
                  <a:srgbClr val="5F6B7A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96C01-BA18-FDCF-B397-5BEE0A5F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8850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536332-6E4B-FA21-37AB-53FD31277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Inter"/>
              </a:rPr>
              <a:t>生活化比喻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——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Inter"/>
              </a:rPr>
              <a:t>餐廳經營</a:t>
            </a:r>
            <a:endParaRPr lang="zh-TW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EEF221-C4A0-8350-B2C6-E4038D97F1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953" y="3525276"/>
            <a:ext cx="1866129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ef - Free food icons">
            <a:extLst>
              <a:ext uri="{FF2B5EF4-FFF2-40B4-BE49-F238E27FC236}">
                <a16:creationId xmlns:a16="http://schemas.microsoft.com/office/drawing/2014/main" id="{D49DB06F-679C-BAB6-7055-3EE9E4F3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207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reezer - Free technology icons">
            <a:extLst>
              <a:ext uri="{FF2B5EF4-FFF2-40B4-BE49-F238E27FC236}">
                <a16:creationId xmlns:a16="http://schemas.microsoft.com/office/drawing/2014/main" id="{9F83CED3-54E9-F5FC-E434-4DF909010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78" y="3525276"/>
            <a:ext cx="1890546" cy="189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4FEA9A-DD91-651F-926F-4E644AEA31A7}"/>
              </a:ext>
            </a:extLst>
          </p:cNvPr>
          <p:cNvSpPr txBox="1"/>
          <p:nvPr/>
        </p:nvSpPr>
        <p:spPr>
          <a:xfrm>
            <a:off x="924953" y="2135421"/>
            <a:ext cx="21444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i="0" dirty="0">
                <a:effectLst/>
                <a:latin typeface="Inter"/>
              </a:rPr>
              <a:t>Controller</a:t>
            </a:r>
            <a:r>
              <a:rPr lang="en-US" altLang="zh-TW" b="1" i="0" dirty="0">
                <a:effectLst/>
                <a:latin typeface="Inter"/>
              </a:rPr>
              <a:t> (</a:t>
            </a:r>
            <a:r>
              <a:rPr lang="zh-TW" altLang="en-US" b="1" i="0" dirty="0">
                <a:effectLst/>
                <a:latin typeface="Inter"/>
              </a:rPr>
              <a:t>服務生</a:t>
            </a:r>
            <a:r>
              <a:rPr lang="en-US" altLang="zh-TW" b="1" i="0" dirty="0">
                <a:effectLst/>
                <a:latin typeface="Inter"/>
              </a:rPr>
              <a:t>)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2BF4B2C-E99F-A1D9-0BF2-E90E37F4E111}"/>
              </a:ext>
            </a:extLst>
          </p:cNvPr>
          <p:cNvSpPr txBox="1"/>
          <p:nvPr/>
        </p:nvSpPr>
        <p:spPr>
          <a:xfrm>
            <a:off x="5298489" y="2206911"/>
            <a:ext cx="1507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i="0" dirty="0">
                <a:effectLst/>
                <a:latin typeface="Inter"/>
              </a:rPr>
              <a:t>Service (</a:t>
            </a:r>
            <a:r>
              <a:rPr lang="zh-TW" altLang="en-US" b="1" i="0" dirty="0">
                <a:effectLst/>
                <a:latin typeface="Inter"/>
              </a:rPr>
              <a:t>主廚</a:t>
            </a:r>
            <a:r>
              <a:rPr lang="en-US" altLang="zh-TW" b="1" i="0" dirty="0">
                <a:effectLst/>
                <a:latin typeface="Inter"/>
              </a:rPr>
              <a:t>)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4EC84E-D2B2-CF19-01E9-9E332C714B5B}"/>
              </a:ext>
            </a:extLst>
          </p:cNvPr>
          <p:cNvSpPr txBox="1"/>
          <p:nvPr/>
        </p:nvSpPr>
        <p:spPr>
          <a:xfrm>
            <a:off x="9035551" y="2171708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i="0" dirty="0">
                <a:effectLst/>
                <a:latin typeface="Inter"/>
              </a:rPr>
              <a:t>Repository</a:t>
            </a:r>
            <a:r>
              <a:rPr lang="en-US" altLang="zh-TW" b="1" i="0" dirty="0">
                <a:effectLst/>
                <a:latin typeface="Inter"/>
              </a:rPr>
              <a:t> (</a:t>
            </a:r>
            <a:r>
              <a:rPr lang="zh-TW" altLang="en-US" b="1" i="0" dirty="0">
                <a:effectLst/>
                <a:latin typeface="Inter"/>
              </a:rPr>
              <a:t>倉庫管理員</a:t>
            </a:r>
            <a:r>
              <a:rPr lang="en-US" altLang="zh-TW" b="1" i="0" dirty="0">
                <a:effectLst/>
                <a:latin typeface="Inter"/>
              </a:rPr>
              <a:t>)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D0EE6D7-D67A-50A5-CC52-3E408347A307}"/>
              </a:ext>
            </a:extLst>
          </p:cNvPr>
          <p:cNvSpPr txBox="1"/>
          <p:nvPr/>
        </p:nvSpPr>
        <p:spPr>
          <a:xfrm>
            <a:off x="924953" y="2597128"/>
            <a:ext cx="257230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Inter"/>
              </a:rPr>
              <a:t>只負責「面對客人」。</a:t>
            </a:r>
            <a:endParaRPr lang="en-US" altLang="zh-TW" sz="1400" b="0" i="0" dirty="0">
              <a:effectLst/>
              <a:latin typeface="Inter"/>
            </a:endParaRPr>
          </a:p>
          <a:p>
            <a:r>
              <a:rPr lang="zh-TW" altLang="en-US" sz="1400" b="0" i="0" dirty="0">
                <a:effectLst/>
                <a:latin typeface="Inter"/>
              </a:rPr>
              <a:t>接菜單、送菜。他</a:t>
            </a:r>
            <a:r>
              <a:rPr lang="zh-TW" altLang="en-US" sz="1400" b="1" i="0" dirty="0">
                <a:effectLst/>
                <a:latin typeface="Inter"/>
              </a:rPr>
              <a:t>不進廚房</a:t>
            </a:r>
            <a:r>
              <a:rPr lang="zh-TW" altLang="en-US" sz="1400" b="0" i="0" dirty="0">
                <a:effectLst/>
                <a:latin typeface="Inter"/>
              </a:rPr>
              <a:t>，他只負責把需求傳進去。</a:t>
            </a:r>
            <a:endParaRPr lang="zh-TW" altLang="en-US" sz="14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DAE6D9D-90B7-AC93-90A9-B664DA0E3828}"/>
              </a:ext>
            </a:extLst>
          </p:cNvPr>
          <p:cNvSpPr txBox="1"/>
          <p:nvPr/>
        </p:nvSpPr>
        <p:spPr>
          <a:xfrm>
            <a:off x="5030286" y="2579857"/>
            <a:ext cx="2572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Inter"/>
              </a:rPr>
              <a:t>只負責「處理食物」。</a:t>
            </a:r>
            <a:endParaRPr lang="en-US" altLang="zh-TW" sz="1400" b="0" i="0" dirty="0">
              <a:effectLst/>
              <a:latin typeface="Inter"/>
            </a:endParaRPr>
          </a:p>
          <a:p>
            <a:r>
              <a:rPr lang="zh-TW" altLang="en-US" sz="1400" b="0" i="0" dirty="0">
                <a:effectLst/>
                <a:latin typeface="Inter"/>
              </a:rPr>
              <a:t>他不管客人是誰，他只</a:t>
            </a:r>
            <a:r>
              <a:rPr lang="zh-TW" altLang="en-US" sz="1400" b="1" i="0" dirty="0">
                <a:effectLst/>
                <a:latin typeface="Inter"/>
              </a:rPr>
              <a:t>負責根據菜單把料理做好</a:t>
            </a:r>
            <a:r>
              <a:rPr lang="zh-TW" altLang="en-US" sz="1400" b="0" i="0" dirty="0">
                <a:effectLst/>
                <a:latin typeface="Inter"/>
              </a:rPr>
              <a:t>（邏輯處理）。</a:t>
            </a:r>
            <a:endParaRPr lang="zh-TW" altLang="en-US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3A7C13F-196B-2610-986E-8307CD4D279E}"/>
              </a:ext>
            </a:extLst>
          </p:cNvPr>
          <p:cNvSpPr txBox="1"/>
          <p:nvPr/>
        </p:nvSpPr>
        <p:spPr>
          <a:xfrm>
            <a:off x="9035551" y="2562615"/>
            <a:ext cx="248022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effectLst/>
                <a:latin typeface="Inter"/>
              </a:rPr>
              <a:t>只負責「拿食材」。</a:t>
            </a:r>
            <a:endParaRPr lang="en-US" altLang="zh-TW" sz="1400" b="0" i="0" dirty="0">
              <a:effectLst/>
              <a:latin typeface="Inter"/>
            </a:endParaRPr>
          </a:p>
          <a:p>
            <a:r>
              <a:rPr lang="zh-TW" altLang="en-US" sz="1400" b="0" i="0" dirty="0">
                <a:effectLst/>
                <a:latin typeface="Inter"/>
              </a:rPr>
              <a:t>主廚說要牛肉，他</a:t>
            </a:r>
            <a:r>
              <a:rPr lang="zh-TW" altLang="en-US" sz="1400" b="1" i="0" dirty="0">
                <a:effectLst/>
                <a:latin typeface="Inter"/>
              </a:rPr>
              <a:t>就去冰箱拿牛肉</a:t>
            </a:r>
            <a:r>
              <a:rPr lang="zh-TW" altLang="en-US" sz="1400" b="0" i="0" dirty="0">
                <a:effectLst/>
                <a:latin typeface="Inter"/>
              </a:rPr>
              <a:t>。他不管這牛肉是要做排餐還是快炒。</a:t>
            </a:r>
            <a:endParaRPr lang="zh-TW" altLang="en-US" sz="1400" dirty="0"/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31B0A21C-F3D0-2625-82B9-47BB2EBE059E}"/>
              </a:ext>
            </a:extLst>
          </p:cNvPr>
          <p:cNvCxnSpPr>
            <a:cxnSpLocks/>
          </p:cNvCxnSpPr>
          <p:nvPr/>
        </p:nvCxnSpPr>
        <p:spPr>
          <a:xfrm>
            <a:off x="7483876" y="4470549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C9BA17A7-361C-5DB5-84EA-E9D3E94AEFEA}"/>
              </a:ext>
            </a:extLst>
          </p:cNvPr>
          <p:cNvCxnSpPr>
            <a:cxnSpLocks/>
          </p:cNvCxnSpPr>
          <p:nvPr/>
        </p:nvCxnSpPr>
        <p:spPr>
          <a:xfrm>
            <a:off x="3099772" y="4472028"/>
            <a:ext cx="16512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E5B2760-CDA5-AAA2-FD89-6E09B54176BE}"/>
              </a:ext>
            </a:extLst>
          </p:cNvPr>
          <p:cNvSpPr txBox="1"/>
          <p:nvPr/>
        </p:nvSpPr>
        <p:spPr>
          <a:xfrm>
            <a:off x="3180000" y="5699649"/>
            <a:ext cx="5892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職權分離：服務生不該主菜 </a:t>
            </a:r>
            <a:r>
              <a:rPr lang="en-US" altLang="zh-TW" dirty="0"/>
              <a:t>; </a:t>
            </a:r>
            <a:r>
              <a:rPr lang="zh-TW" altLang="en-US" dirty="0"/>
              <a:t>主廚不該跑去資料庫翻冰箱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7FA506-6097-5FEB-43DB-964DB9E3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6327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3CB226-F8A7-B99A-A22C-229AD3049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組件標籤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E17C98-9B92-6326-EDD2-4F93BFBC7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 (Controller)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它是程式的門口。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Mapping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對應網址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 (Service)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它是程式的大腦。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Business Logic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業務邏輯，例如：打折、過濾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>
              <a:buFont typeface="+mj-lt"/>
              <a:buAutoNum type="arabicPeriod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 (Repository)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它是程式的手腳。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關鍵字：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Database (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資料庫，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CRUD)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C1B8C-1B2D-EFDE-B1AE-51C110324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767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8C27C-30BF-87C7-A1FB-EBD527833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後端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的入口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8FABECC-73D7-D61F-DEC7-A7E32D95BEBE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 HTTP Request，然後把工作交給 Service。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89FF4ED-FE1B-CBA3-EF4D-E7ADC2EDE043}"/>
              </a:ext>
            </a:extLst>
          </p:cNvPr>
          <p:cNvSpPr txBox="1"/>
          <p:nvPr/>
        </p:nvSpPr>
        <p:spPr>
          <a:xfrm>
            <a:off x="6443241" y="2329276"/>
            <a:ext cx="542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8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class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@GetMapping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"/hello"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0" dirty="0">
                <a:solidFill>
                  <a:srgbClr val="8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String </a:t>
            </a:r>
            <a:r>
              <a:rPr lang="en-US" altLang="zh-TW" sz="1800" b="0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{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</a:t>
            </a:r>
            <a:r>
              <a:rPr lang="en-US" altLang="zh-TW" sz="1800" b="1" dirty="0">
                <a:solidFill>
                  <a:srgbClr val="0000FF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return</a:t>
            </a:r>
            <a:r>
              <a:rPr lang="en-US" altLang="zh-TW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800" b="0" dirty="0">
                <a:solidFill>
                  <a:srgbClr val="808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"Hello Spring Boot"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</a:t>
            </a:r>
            <a:endParaRPr lang="en-US" altLang="zh-TW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1800" b="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800" b="1" dirty="0">
                <a:solidFill>
                  <a:srgbClr val="00008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sz="1800" b="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12A25C-8C82-8996-9623-CB6CEA3A4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E03F5F5-C682-D770-DE2C-066E500DF5F2}"/>
              </a:ext>
            </a:extLst>
          </p:cNvPr>
          <p:cNvSpPr/>
          <p:nvPr/>
        </p:nvSpPr>
        <p:spPr>
          <a:xfrm>
            <a:off x="1097280" y="4048767"/>
            <a:ext cx="4998718" cy="1946922"/>
          </a:xfrm>
          <a:prstGeom prst="rect">
            <a:avLst/>
          </a:prstGeom>
          <a:solidFill>
            <a:srgbClr val="FFFFFF"/>
          </a:solidFill>
          <a:ln w="16510">
            <a:solidFill>
              <a:srgbClr val="C94C4C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不該做太多事</a:t>
            </a:r>
            <a:r>
              <a:rPr lang="zh-TW" altLang="en-US" sz="2400" dirty="0"/>
              <a:t>✘</a:t>
            </a:r>
            <a:endParaRPr lang="en-US" altLang="zh-TW" sz="2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複雜計算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規則判斷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資料庫查詢細節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大量商業邏輯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2B4C3862-742F-9E13-B6C4-3709C2A21ABF}"/>
              </a:ext>
            </a:extLst>
          </p:cNvPr>
          <p:cNvSpPr/>
          <p:nvPr/>
        </p:nvSpPr>
        <p:spPr>
          <a:xfrm>
            <a:off x="1108856" y="1848811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該做</a:t>
            </a:r>
            <a:r>
              <a:rPr lang="zh-TW" altLang="en-US" sz="2000" dirty="0"/>
              <a:t>✔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接收網址與呼叫參數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選擇要呼叫哪個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回傳結果給呼叫者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683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B3449FD-9EA7-7042-883B-CD850104E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53E77BE0-8158-306B-9076-725C9F8F0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21336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商業邏輯的大腦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9C723619-4064-730F-3856-D1FDA189EAE0}"/>
              </a:ext>
            </a:extLst>
          </p:cNvPr>
          <p:cNvSpPr/>
          <p:nvPr/>
        </p:nvSpPr>
        <p:spPr>
          <a:xfrm>
            <a:off x="1097280" y="13079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300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打折、判斷、計算、檢查資料，通常放在</a:t>
            </a:r>
            <a:r>
              <a:rPr lang="en-US" altLang="zh-TW" sz="13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Service。</a:t>
            </a:r>
            <a:endParaRPr lang="en-US" altLang="zh-TW" sz="13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DCC6AF6-F8DB-149B-3514-7E9A77CD0B02}"/>
              </a:ext>
            </a:extLst>
          </p:cNvPr>
          <p:cNvSpPr txBox="1"/>
          <p:nvPr/>
        </p:nvSpPr>
        <p:spPr>
          <a:xfrm>
            <a:off x="6107575" y="2360368"/>
            <a:ext cx="902825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 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1600" dirty="0">
              <a:solidFill>
                <a:srgbClr val="000000"/>
              </a:solidFill>
              <a:highlight>
                <a:srgbClr val="FFFFFF"/>
              </a:highlight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@Service</a:t>
            </a:r>
          </a:p>
          <a:p>
            <a:r>
              <a:rPr lang="en-US" altLang="zh-TW" sz="160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public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class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ProductService</a:t>
            </a:r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{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@Autowired</a:t>
            </a: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private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public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getDiscountPrice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{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    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originalPrice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=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</a:p>
          <a:p>
            <a:r>
              <a:rPr lang="en-US" altLang="zh-TW" sz="16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			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productRepository</a:t>
            </a:r>
            <a:r>
              <a:rPr lang="en-US" altLang="zh-TW" sz="1600" b="1" dirty="0" err="1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.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findPriceById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id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    </a:t>
            </a:r>
            <a:r>
              <a:rPr lang="en-US" altLang="zh-TW" sz="1600" b="1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return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(</a:t>
            </a:r>
            <a:r>
              <a:rPr lang="en-US" altLang="zh-TW" sz="1600" b="0" dirty="0">
                <a:solidFill>
                  <a:srgbClr val="8000FF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int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)(</a:t>
            </a:r>
            <a:r>
              <a:rPr lang="en-US" altLang="zh-TW" sz="1600" b="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originalPrice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*</a:t>
            </a:r>
            <a:r>
              <a:rPr lang="en-US" altLang="zh-TW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</a:t>
            </a:r>
            <a:r>
              <a:rPr lang="en-US" altLang="zh-TW" sz="1600" b="0" dirty="0">
                <a:solidFill>
                  <a:srgbClr val="FF8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0.8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);</a:t>
            </a:r>
            <a:endParaRPr lang="en-US" altLang="zh-TW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zh-TW" altLang="en-US" sz="1600" b="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    </a:t>
            </a:r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}</a:t>
            </a:r>
            <a:endParaRPr lang="zh-TW" altLang="en-US" sz="1600" b="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</a:endParaRPr>
          </a:p>
          <a:p>
            <a:r>
              <a:rPr lang="en-US" altLang="zh-TW" sz="1600" b="1" dirty="0">
                <a:solidFill>
                  <a:srgbClr val="000080"/>
                </a:solidFill>
                <a:highlight>
                  <a:srgbClr val="FFFFFF"/>
                </a:highlight>
                <a:latin typeface="Courier New" panose="02070309020205020404" pitchFamily="49" charset="0"/>
              </a:rPr>
              <a:t>}</a:t>
            </a:r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2F4B878B-A95B-A3C9-325C-9429375A2BED}"/>
              </a:ext>
            </a:extLst>
          </p:cNvPr>
          <p:cNvSpPr txBox="1">
            <a:spLocks/>
          </p:cNvSpPr>
          <p:nvPr/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D5BEE6-8A42-470F-9B73-3A0C6CCA84ED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pPr/>
              <a:t>10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98401C6B-9254-B342-FBA8-2641CC8F113F}"/>
              </a:ext>
            </a:extLst>
          </p:cNvPr>
          <p:cNvSpPr/>
          <p:nvPr/>
        </p:nvSpPr>
        <p:spPr>
          <a:xfrm>
            <a:off x="1097280" y="4048767"/>
            <a:ext cx="4998718" cy="1946922"/>
          </a:xfrm>
          <a:prstGeom prst="rect">
            <a:avLst/>
          </a:prstGeom>
          <a:solidFill>
            <a:srgbClr val="FFFFFF"/>
          </a:solidFill>
          <a:ln w="16510">
            <a:solidFill>
              <a:srgbClr val="C94C4C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sz="2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不該做太多事</a:t>
            </a:r>
            <a:r>
              <a:rPr lang="zh-TW" altLang="en-US" sz="2400" dirty="0"/>
              <a:t>✘</a:t>
            </a:r>
            <a:endParaRPr lang="en-US" altLang="zh-TW" sz="2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複雜計算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規則判斷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資料庫查詢細節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大量商業邏輯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D3F9B04B-E88F-876A-A7FB-028257905C8A}"/>
              </a:ext>
            </a:extLst>
          </p:cNvPr>
          <p:cNvSpPr/>
          <p:nvPr/>
        </p:nvSpPr>
        <p:spPr>
          <a:xfrm>
            <a:off x="1108856" y="1848811"/>
            <a:ext cx="4998719" cy="2063431"/>
          </a:xfrm>
          <a:prstGeom prst="rect">
            <a:avLst/>
          </a:prstGeom>
          <a:solidFill>
            <a:srgbClr val="FFFFFF"/>
          </a:solidFill>
          <a:ln w="16510">
            <a:solidFill>
              <a:srgbClr val="168A9A">
                <a:alpha val="95000"/>
              </a:srgbClr>
            </a:solidFill>
          </a:ln>
        </p:spPr>
        <p:txBody>
          <a:bodyPr wrap="square" lIns="1524" tIns="1524" rIns="1524" bIns="1524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接收網址與呼叫參數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選擇要呼叫哪個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回傳結果給呼叫者</a:t>
            </a:r>
            <a:endParaRPr lang="en-US" altLang="zh-TW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333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1" i="0" dirty="0">
                <a:solidFill>
                  <a:srgbClr val="D4D4D4"/>
                </a:solidFill>
                <a:effectLst/>
                <a:latin typeface="Inter"/>
              </a:rPr>
              <a:t> </a:t>
            </a:r>
            <a:br>
              <a:rPr lang="en-US" altLang="zh-TW" b="1" i="0" dirty="0">
                <a:solidFill>
                  <a:srgbClr val="D4D4D4"/>
                </a:solidFill>
                <a:effectLst/>
                <a:latin typeface="Inter"/>
              </a:rPr>
            </a:br>
            <a:r>
              <a:rPr lang="en-US" altLang="zh-TW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 </a:t>
            </a:r>
            <a:r>
              <a:rPr lang="zh-TW" altLang="en-US" sz="24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4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：假設資料庫裡有一個名字。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0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用一個簡單的「問候系統」展示資料怎麼傳遞。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@Repository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王小明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模擬從資料庫拿資料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57C7BC-854A-14E7-117B-B5AD436F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89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二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br>
              <a:rPr lang="en-US" altLang="zh-TW" sz="4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：把名字加工，加上問候語。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@Service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private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NameRepository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叫倉庫管理員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String name =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nameRepo.getNameFromDB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你好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" + name + "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！歡迎光臨。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";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處理邏輯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155C68-709E-B746-6A99-513073B36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7453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182EBD-7490-EF5C-09FF-B7512644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範例程式拆解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b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 </a:t>
            </a:r>
            <a:r>
              <a:rPr lang="zh-TW" altLang="en-US" sz="28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層</a:t>
            </a:r>
            <a:r>
              <a:rPr lang="zh-TW" altLang="en-US" sz="2800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：設定網址。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1DD6A1-3682-5B39-73DD-C826C29E3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@RestController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 class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GreetController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@Autowired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private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叫主廚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@GetMapping("/hello")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public String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sayHello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 {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    return 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greetService.makeGreeting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(); // </a:t>
            </a: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回傳結果</a:t>
            </a:r>
          </a:p>
          <a:p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</a:p>
          <a:p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}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58E98-BA89-A0B5-87FE-2799D5298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0271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A1D2D7-EB39-FC3C-57FF-1C8EF7932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課堂習題 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 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實作「商品折扣計算器」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37258-577D-251D-62C5-96EF89021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題目背景：</a:t>
            </a:r>
            <a:b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我們要寫一個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API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，當輸入商品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時，系統會回傳該商品的打折後價格。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Repository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已經寫好，會根據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給你原始價格。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Service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學生實作重點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負責計算打 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 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折後的價格。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Controller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學生實作重點</a:t>
            </a:r>
            <a:r>
              <a:rPr lang="en-US" altLang="zh-TW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負責接收網址 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/price/{id}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</a:p>
          <a:p>
            <a:pPr algn="l"/>
            <a:r>
              <a:rPr lang="zh-TW" alt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學生填空作業：</a:t>
            </a:r>
          </a:p>
          <a:p>
            <a:pPr algn="l"/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請學生在紙上或編輯器中完成 </a:t>
            </a:r>
            <a:r>
              <a:rPr lang="en-US" altLang="zh-TW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...</a:t>
            </a:r>
            <a:r>
              <a:rPr lang="zh-TW" alt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 的部分：</a:t>
            </a:r>
          </a:p>
          <a:p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C6CB6A-49BF-C2AF-5D60-A7A61D71A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6019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97AA06-2ACE-6F04-9873-80AAC6CE0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37A69A-E968-D817-3C63-B7220EC6B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914934-45D2-1227-0152-43DDE40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D5BEE6-8A42-470F-9B73-3A0C6CCA84ED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5272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3193</TotalTime>
  <Words>1020</Words>
  <Application>Microsoft Office PowerPoint</Application>
  <PresentationFormat>寬螢幕</PresentationFormat>
  <Paragraphs>183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5" baseType="lpstr">
      <vt:lpstr>Inter</vt:lpstr>
      <vt:lpstr>Noto Sans CJK TC</vt:lpstr>
      <vt:lpstr>標楷體</vt:lpstr>
      <vt:lpstr>Aptos</vt:lpstr>
      <vt:lpstr>Arial</vt:lpstr>
      <vt:lpstr>Calibri</vt:lpstr>
      <vt:lpstr>Calibri Light</vt:lpstr>
      <vt:lpstr>Courier New</vt:lpstr>
      <vt:lpstr>Times New Roman</vt:lpstr>
      <vt:lpstr>回顧</vt:lpstr>
      <vt:lpstr>從前端思維理解 Spring Boot 三層架構 Spring Boot 3-Layer Architecture 入門</vt:lpstr>
      <vt:lpstr>後端到底在幹嘛?</vt:lpstr>
      <vt:lpstr>為什麼要學「架構」？</vt:lpstr>
      <vt:lpstr>沒有分層:義大利麵Controller</vt:lpstr>
      <vt:lpstr>三層架構總覽</vt:lpstr>
      <vt:lpstr>用前端概念類比後端三層</vt:lpstr>
      <vt:lpstr>生活化比喻 —— 餐廳經營</vt:lpstr>
      <vt:lpstr>組件標籤</vt:lpstr>
      <vt:lpstr>Controller : 後端API的入口</vt:lpstr>
      <vt:lpstr>Service : 商業邏輯的大腦</vt:lpstr>
      <vt:lpstr>範例程式拆解 (一)  Repository 層：假設資料庫裡有一個名字。</vt:lpstr>
      <vt:lpstr>範例程式拆解 (二)  Service 層：把名字加工，加上問候語。</vt:lpstr>
      <vt:lpstr>範例程式拆解 (三)  Controller 層：設定網址。</vt:lpstr>
      <vt:lpstr>課堂習題 - 實作「商品折扣計算器」</vt:lpstr>
      <vt:lpstr>PowerPoint 簡報</vt:lpstr>
    </vt:vector>
  </TitlesOfParts>
  <Company>Cathay Century Insurance CO.,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Boot 三層架構 (3-Layer Architecture)</dc:title>
  <dc:creator>陳禹翔 Grant</dc:creator>
  <cp:lastModifiedBy>禹翔 陳</cp:lastModifiedBy>
  <cp:revision>12</cp:revision>
  <dcterms:created xsi:type="dcterms:W3CDTF">2026-04-02T03:27:48Z</dcterms:created>
  <dcterms:modified xsi:type="dcterms:W3CDTF">2026-05-19T13:28:23Z</dcterms:modified>
</cp:coreProperties>
</file>